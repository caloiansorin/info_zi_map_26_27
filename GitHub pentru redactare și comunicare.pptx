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12192000"/>
  <p:embeddedFontLst>
    <p:embeddedFont>
      <p:font typeface="IBM Plex Sans" panose="020B0503050203000203" pitchFamily="34" charset="0"/>
      <p:regular r:id="rId39"/>
      <p:bold r:id="rId40"/>
    </p:embeddedFont>
    <p:embeddedFont>
      <p:font typeface="JetBrains Mono" panose="02000009000000000000" pitchFamily="49" charset="0"/>
      <p:regular r:id="rId41"/>
      <p:bold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26" d="100"/>
          <a:sy n="126" d="100"/>
        </p:scale>
        <p:origin x="232"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763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Deschidere (circa 3 minute). Spune pe scurt ce urmează: „Astăzi nu facem un curs de programare, ci un curs despre cum scriu și comunică oamenii care lucrează la proiecte software. GitHub e locul unde se întâmplă asta.” Întreabă sala: „Câți dintre voi aveți un cont de GitHub? Câți l-ați folosit pentru altceva decât să descărcați cod?” Notează răspunsurile, te ajută să ajustezi ritmul: dacă majoritatea n-au cont, insistă mai mult pe concepte; dacă au, treci mai repede peste ele. Comanda de sus, git commit -m „Primul pas”, e o glumă de deschidere: fiecare commit e o mică bucată de text scrisă pentru alți oameni.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(circa 3 minute). Prezintă cele șase părți și spune clar că pauza vine după partea a treia, cam la două ore de la început. Fiecare parte urmează aceeași idee: un instrument de pe GitHub și regulile de scriere care îl fac util. Spune-le de la început că vor primi o temă practică la final: un repository propriu cu README, câteva commit-uri, un issue și un pull request. Asta îi face să fie atenți la detalii. Dacă ai acces la internet în sală, ține deschis github.com într-un tab, ca să arăți exemple reale pe parcurs.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GitHub la un curs de redactare (circa 7 minute). Ideea principală: programatorii petrec mult timp scriind text, nu doar cod. Echipele lucrează adesea la distanță, în fusuri orare diferite, deci nu se pot întreba unii pe alții la cafea. Tot ce contează rămâne scris: ce s-a schimbat, de ce, ce problemă există, cum se instalează programul. Treci prin cei trei cititori de pe slide. Insistă pe ultimul, „tu, peste 6 luni”: întreabă dacă vreunul s-a uitat la un proiect vechi de-al lui și n-a mai înțeles ce a făcut. Aproape mereu cineva râde și recunoaște. Concluzia: tot ce am vorbit despre scris clar (ideea principală întâi, fraze scurte, cititorul în minte) se aplică direct pe GitHub. Iar la un interviu de angajare, profilul de GitHub e citit ca un CV: un README îngrijit spune ceva despre tine.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versus GitHub (circa 5 minute). Mulți studenți le confundă. O analogie care funcționează: Git e ca funcția de istoric a versiunilor dintr-un document, dar mult mai puternică; GitHub e ca Google Drive pentru proiecte Git, plus un spațiu de discuții. Git a fost creat în 2005 de Linus Torvalds, pentru dezvoltarea nucleului Linux. GitHub e o companie, cumpărată de Microsoft în 2018. Există și alternative: GitLab, Bitbucket, Codeberg; principiile de comunicare pe care le discutăm azi sunt aceleași pe toate. Accentul cursului nostru cade pe coloana din dreapta: instrumentele de comunicare. Nu trebuie să știe comenzi Git complicate ca să le folosească; o mare parte se poate face direct din interfața web.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 (circa 6 minute). Treci prin fiecare termen și insistă pe coloana din dreapta, care leagă GitHub de redactare. Termenii rămân de obicei în engleză; în echipele din România se spune „am făcut un commit”, „deschide un issue”, „ți-am lăsat comentarii pe PR”. Spune-le că e normal să-i folosească așa. Întrebare pentru sală: „Unde ați făcut voi ceva asemănător cu un code review?” Răspunsuri posibile: un coleg care v-a citit lucrarea înainte de predare, profesorul care corectează cu pixul roșu. Ideea de reținut: code review înseamnă feedback scris, iar despre feedback vom vorbi mult în partea a cincea.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Fluxul de lucru (circa 6 minute). Acesta e drumul tipic al unei modificări într-un proiect de echipă. Povestește-l ca pe un exemplu concret: „Cineva observă că pagina de login nu merge pe telefon. Deschide un issue și descrie problema. Un coleg își face o ramură separată, numită de exemplu fix-login-mobil, ca să nu strice versiunea principală. Face două-trei commit-uri, fiecare cu un mesaj. Apoi deschide un pull request: «Am reparat login-ul pe mobil, vă rog să verificați». Ceilalți citesc, lasă comentarii, el corectează, iar la final modificarea e integrată (merge).” Arată rândul de jos din fiecare cutie: la fiecare pas există un text scris de un om pentru alți oameni. Spune că restul cursului urmează exact aceste texte, pe rând.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Tranziție spre partea întâi. Spune: „Înainte să scrieți un README sau un comentariu, trebuie să știți cum se formatează textul pe GitHub. Răspunsul e Markdown. Îl veți întâlni și în afara GitHub-ului: pe Discord, în Notion, în Obsidian, pe Reddit, în multe aplicații de notițe.” Întreabă dacă cineva a scris vreodată cuvinte între steluțe pe Discord ca să apară îngroșate: ăla era Markdown.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este Markdown (circa 6 minute). Markdown a fost creat în 2004 de John Gruber, cu o idee simplă: textul trebuie să fie ușor de citit chiar și înainte de formatare. Compară cu Word: acolo formatarea e ascunsă în fișier; în Markdown o vezi direct în text, prin câteva semne (diez, steluțe, liniuțe). Arată stânga, apoi dreapta: aceleași cuvinte, două forme. Avantaje de spus: fișierul e text simplu, deci se deschide oriunde, ocupă puțin și Git îi poate urmări fiecare modificare, rând cu rând. Asta nu merge bine cu un fișier Word. Fișierele Markdown au extensia .md; de aceea pe GitHub vedeți mereu README.md. Pe GitHub, Markdown funcționează aproape peste tot: în README, în issues, în comentarii, în descrierile de pull request, în wiki.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Sintaxa de bază (circa 7 minute). Treci rând cu rând, cu exemple. Detalii utile: după diez trebuie un spațiu („# Titlu”, nu „#Titlu”), altfel pe GitHub nu apare ca titlu. Un document are un singur titlu cu un diez, apoi secțiuni cu două diezuri; e exact structura de titluri despre care vorbim la redactare. Pentru îngroșat și cursiv se pot folosi și liniuțe de jos (__text__, _text_), dar e bine să alegi un stil și să-l păstrezi. Accentul grav (`), tasta de lângă cifra 1, marchează cod; spune-le unde e pe tastatură, mulți nu o găsesc. Regula de redactare: îngroșatul se folosește rar. Dacă totul e îngroșat, nimic nu mai iese în evidență. Dacă ai proiector și internet, deschide un issue nou pe un repository de test și arată tab-ul „Preview”, ca să vadă transformarea în timp real.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 și tabele (circa 7 minute). Blocurile de cod sunt esențiale pe GitHub: oricând lipești cod sau un mesaj de eroare într-un issue, pune-l într-un bloc de cod. Altfel GitHub îl formatează greșit (de exemplu, steluțele din cod devin cursiv) și e greu de citit. Scriind limbajul după cele trei accente (python, java, js, bash), primești culori de sintaxă. Pentru tabele: nu trebuie să alinieze perfect coloanele, GitHub le aliniază singur; alinierea din exemplu e doar ca să se citească ușor sursa. Spune-le că tabelele sunt bune pentru comparații scurte (de exemplu, ce funcționează pe ce sistem de operare) și proaste pentru texte lungi. Mini-exercițiu oral: „Cum ați scrie în Markdown un tabel cu trei coloane: Nume, Grupa, Email?” Lasă un student să-l dicteze, tu îl scrii pe tablă.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Elemente de legătură (circa 7 minute). Linkuri: insistă pe textul linkului. „Pentru instalare, citește ghidul de instalare” e mult mai bine decât „click aici”. Cititorii parcurg textul cu ochii și văd mai întâi linkurile; textul lor trebuie să spună unde duc. E și o problemă de accesibilitate: cititoarele de ecran pentru nevăzători citesc lista de linkuri, iar zece de „aici” nu spun nimic. Imagini: textul dintre parantezele drepte (textul alternativ) descrie imaginea pentru cine nu o poate vedea. Listele de sarcini sunt specifice GitHub: într-un issue, devin bife pe care le poți marca direct din pagină, iar GitHub arată progresul (de exemplu „1 din 2 sarcini”). Mențiunile: scriind @ și numele de utilizator, colegul primește o notificare. Scriind # și un număr, GitHub creează automat un link către issue-ul sau PR-ul cu acel număr. Așa se leagă discuțiile între ele. Regula de bun-simț: nu menționa pe toată lumea; menționează doar persoana de la care ai nevoie de ceva.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Greșeli frecvente (circa 5 minute), apoi încheierea părții întâi. Primele patru greșeli sunt tehnice: Markdown are nevoie de rânduri goale ca să știe unde începe un paragraf sau o listă. Ultimele două sunt greșeli de redactare, aceleași ca într-un text obișnuit. Sfat practic: înainte de a publica orice text pe GitHub, apasă pe „Preview” și citește-l așa cum îl va vedea colegul. E echivalentul recitirii unui e-mail înainte de trimitere. Încheiere: „Markdown se învață în zece minute, dar se folosește toată cariera. Acum că știm să formatăm, să vedem ce scriem: primul și cel mai important text al unui proiect, README-ul.”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Tranziție spre partea a doua. Spune: „Când intri pe pagina unui proiect de pe GitHub, primul lucru pe care îl vezi sub lista de fișiere e README-ul. Numele vine din engleză: «read me», adică «citește-mă». E coperta, prefața și instrucțiunile proiectului, toate într-un singur fișier.” Întreabă: „Câte secunde credeți că stă cineva pe un proiect înainte să decidă dacă îl folosește sau pleacă?” Lasă-i să ghicească; ideea e că decizia se ia foarte repede, iar README-ul e cel care o influențează.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 unui README (circa 8 minute). Legătura cu redactarea: e regula „ideea principală întâi” aplicată la un proiect. Cititorul trebuie să afle în primele două rânduri ce face proiectul; abia apoi detaliile. Treci prin cele șase întrebări în ordine (citește coloana din stânga, apoi pe cea din dreapta). La 1: o singură frază, fără jargon, de genul „Aplicație web care afișează orarul fiecărei grupe”. La 2: de ce ar folosi cineva asta în loc de altceva. La 3: pașii trebuie să poată fi copiați și rulați exact cum sunt; testul bun e să-i dai unui coleg README-ul și să vezi dacă reușește singur. La 4: un exemplu face cât o pagină de explicații; o captură de ecran ajută mult. La 5 și 6: fără licență, legal nimeni nu are voie să-ți folosească codul, chiar dacă e public. Întrebare pentru sală: „Care dintre aceste șase secțiuni lipsește cel mai des din proiectele voastre?” De obicei răspunsul e 2 sau 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README slab (circa 7 minute). Acest exemplu e tipic pentru proiectele de facultate; studenții se vor recunoaște, deci tratează-l cu umor. Întreabă sala, înainte să arăți coloana din dreapta: „Sunteți un angajator care vede acest proiect pe CV-ul unui candidat. Ce întrebări aveți?” Lasă-i să spună ei; apoi arată lista. Probleme de redactare de remarcat: titlul (proiect_final_v2) nu spune nimic despre conținut; „PAW” e o abreviere pe care o înțelege doar cine a fost în aceeași grupă; „trebuie node” nu spune ce versiune și nici cum se instalează; nu există diacritice și fraze întregi. Concluzia: autorul a scris pentru el, nu pentru cititor. Este cea mai frecventă greșeală în orice tip de redactare, nu doar pe GitHub.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README bun (circa 8 minute). Același proiect ca pe slide-ul anterior, rescris. Parcurge-l și arată cum fiecare secțiune răspunde la câte una dintre întrebările de dinainte. Titlul spune ce este; fraza de sub el spune ce face, fără jargon. Captura de ecran arată rezultatul înainte ca cititorul să instaleze ceva. Instalarea începe cu cerința (versiunea de Node), apoi comenzile, într-un bloc de cod, ca să poată fi copiate. Utilizarea are un pas concret. Contribuțiile trimit la alte documente, în loc să le copieze aici. Licența MIT e una dintre cele mai simple licențe libere: oricine poate folosi codul, cu condiția să păstreze numele autorului. Observă lungimea: încape pe un ecran. Un README de proiect mic nu trebuie să fie lung, trebuie să fie complet. Exercițiu rapid, oral: „Ce ați adăuga dacă aplicația ar avea nevoie de o bază de date?” Răspuns așteptat: un pas în Instalare care spune ce bază de date și cum se configurează.</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Reguli pentru README (circa 7 minute) și încheierea părții a doua. Prima regulă e cea mai importantă: în redactare se numește „cunoașterea cititorului”. Autorul știe totul despre proiect și uită ce nu știe cititorul. A treia regulă e un test practic, folosit de multe echipe: o persoană nouă trebuie să poată porni proiectul doar după README; fiecare loc în care se blochează e o propoziție care lipsește. A patra: dacă schimbi modul de instalare, schimbi și README-ul în același commit. Pont pentru profilul personal: pe GitHub, un repository cu același nume ca utilizatorul tău (de exemplu, ana-pop/ana-pop) afișează README-ul lui pe pagina ta de profil. E un fel de scrisoare de prezentare; merită făcut înainte de a căuta un stagiu. Tranziție: „Am vorbit despre textul pe care îl citesc vizitatorii. Acum, despre textul pe care îl citesc colegii în fiecare zi: mesajele de commit.”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Tranziție spre partea a treia. Spune: „Fiecare dată când salvați o modificare în Git, scrieți un mesaj. Într-un proiect mare se adună zeci de mii de mesaje. Ele formează istoria proiectului: cine a schimbat ce și, mai ales, de ce.” Întreabă: „Cine a scris vreodată un commit cu mesajul «update», «fix» sau «asdf»?” Aproape toți ridică mâna; asta e bine, pentru că acum vedem de ce e o problemă.</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Anatomia unui mesaj de commit (circa 10 minute). Mesajul are două părți, ca un e-mail: subiectul (titlul) și corpul. Titlul apare în listele scurte, de aceea trebuie să fie sub 50 de caractere; mai lung, e tăiat pe ecran. Începe cu un verb, pentru că descrie ce face commit-ul: regula folosită în engleză e să completezi fraza „Dacă e aplicat, acest commit va…” cu titlul. În română, formulările de tipul „Adaugă”, „Repară”, „Actualizează” funcționează la fel de bine; important e să fie la fel în tot proiectul. Corpul e opțional pentru modificări mici, dar obligatoriu pentru cele importante. De ce explici motivul și nu metoda? Pentru că metoda se vede din cod; motivul nu se vede nicăieri altundeva. Peste un an, cineva va citi codul, se va întreba „de ce e scris așa?” și va găsi răspunsul aici. Rândul „Rezolvă #42” leagă commit-ul de issue-ul cu numărul 42; în engleză, cuvinte precum „Fixes #42” închid automat issue-ul. Comanda pentru un mesaj cu corp: git commit fără -m deschide un editor de text.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(circa 10 minute). Pentru fiecare rând, întreabă sala înainte de a arăta coloana din dreapta: „Peste șase luni găsiți în istoric un commit «fix». Ce aflați din el?” Răspunsul: nimic, trebuie să deschideți codul. Ultimul rând e cel mai important: un commit trebuie să facă un singur lucru. Dacă în mesaj apare „și”, probabil sunt două commit-uri. Asta e echivalentul regulii „o frază, o idee” de la redactare. Avantaj practic: dacă un commit strică ceva, poate fi anulat (git revert) fără să pierzi și modificarea bună cu care era amestecat. Mini-exercițiu în sală (3–4 minute): scrie pe tablă trei situații și cere-le să scrie mesajul pe o foaie. Exemple de situații: „ai corectat o greșeală de tipar în README”, „ai adăugat un buton de deconectare”, „ai șters fișierele de test care nu mai erau folosite”. Răspunsuri bune: „Corectează o greșeală de tipar în README”, „Adaugă butonul de deconectare în meniu”, „Elimină testele nefolosite”.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Commits (circa 7 minute), apoi pauza. Este o convenție folosită de multe proiecte open source: fiecare titlu începe cu un tip, urmat de două puncte. Avantajele: vezi dintr-o privire ce fel de schimbare e; poți genera automat lista de noutăți a unei versiuni (toate „feat” devin „Funcționalități noi”, toate „fix” devin „Erori reparate”). Tipurile rămân în engleză, chiar dacă restul mesajului e în română. Spune-le că nu e obligatorie peste tot: fiecare echipă își alege regulile, iar important e ca toată lumea să le respecte. Legătura cu redactarea: e exact ce face un ghid de stil într-o redacție sau într-o firmă, adică o convenție comună ca textele tuturor să arate unitar. Anunță pauza: „Am terminat jumătatea întâi. Ne vedem în 15 minute; după pauză vorbim despre cum raportezi o problemă.”</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Reluare după pauză și tranziție spre partea a patra. Spune: „Un issue e un mesaj prin care spui echipei: aici e o problemă, sau aici e ceva ce trebuie făcut. Pe proiectele mari, un programator citește zeci de issues pe zi. Cele scrise clar se rezolvă repede; cele vagi stau luni de zile sau sunt închise fără răspuns.” Poți face legătura cu situația lor: „Un issue e ca un e-mail către secretariat. Dacă scrieți «nu merge platforma», nimeni nu vă poate ajuta. Dacă scrieți ce ați încercat, ce s-a întâmplat și de pe ce dispozitiv, problema se rezolvă.”</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 unui issue bun (circa 10 minute). Citește issue-ul slab cu voce tare, cu ton dramatic; sala va râde. Apoi întreabă: „Sunteți programatorul care trebuie să repare asta. Ce faceți?” Răspunsul: nu puteți face nimic până nu întrebați. Fiecare întrebare și răspuns poate dura o zi, iar problema rămâne nerezolvată. Treci prin cele cinci părți. Cea mai importantă e a doua: dacă programatorul nu poate reproduce problema pe calculatorul lui, nu o poate repara. Pașii trebuie să fie numerotați și exacți, ca o rețetă. Diferența dintre 3 și 4 e esențială: uneori programul face exact ce a fost proiectat să facă, iar problema e o neînțelegere; asta se vede doar dacă spui ce te așteptai. Tonul: majusculele și semnele de exclamare se citesc ca țipete. Scrisul calm și precis e mai convingător decât cel agitat; e o regulă valabilă și în e-mailuri și în reclamații. Încă un sfat: înainte să deschizi un issue nou, caută dacă problema a fost deja raportată. Dacă da, adaugă detaliile tale acolo.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issue bun, complet (circa 10 minute). Arată cum fiecare secțiune corespunde uneia dintre cele cinci părți. Titlul singur ajunge ca un programator să bănuiască problema (codificarea caracterelor în Safari). Observația „În Chrome merge” e foarte valoroasă: restrânge căutarea. Spune-le că o captură de ecran sau un mesaj de eroare copiat (într-un bloc de cod) ajută mult. Partea practică: GitHub permite șabloane de issue. Proprietarul proiectului creează un fișier în folderul .github/ISSUE_TEMPLATE, iar când cineva deschide un issue nou, primește formularul gata structurat, cu secțiunile de mai sus. E același principiu ca la un formular tipizat de la secretariat: structura obligă la claritate. Mini-exercițiu (5 minute, pe foaie, individual): „Ultima oară când o aplicație nu v-a mers (platforma facultății, o aplicație de bancă, un joc), scrieți issue-ul în acest format.” Cere 2 voluntari să-l citească.</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Organizarea (circa 7 minute) și încheierea părții a patra. Etichetele funcționează ca niște categorii; se pot filtra după ele. Eticheta „good first issue” e o convenție frumoasă din open source: marchează sarcini simple, potrivite pentru cineva nou în proiect. Spune-le că e o cale bună prin care un student poate începe să contribuie la proiecte reale. Responsabilul: dacă un issue e „al tuturor”, de fapt nu e al nimănui. Milestones: utile pentru proiectele de echipă de la facultate, cu termene de predare. Închiderea e o problemă de comunicare des ignorată: un issue închis fără explicație lasă autorul să se întrebe dacă a fost rezolvat sau ignorat. O frază ajunge: „Rezolvat în versiunea 1.3, vezi #61” sau „Nu vom implementa asta, pentru că…”. Mai există și GitHub Projects, un panou de tip Kanban (De făcut / În lucru / Gata) construit din issues; menționează-l doar, dacă au lucrat cu Trello îl vor recunoaște.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Tranziție spre partea a cincea, probabil cea mai importantă pentru viața lor profesională. Spune: „Pull request-ul e momentul în care munca ta e citită de altcineva înainte să ajungă în proiect. E un dialog scris: tu explici ce ai făcut, colegii comentează, tu răspunzi. Aici se văd cel mai bine abilitățile de comunicare ale unui programator. Mulți spun că un coleg bun nu e doar cel care scrie cod bun, ci și cel care știe să primească și să dea feedback.”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Descrierea unui pull request (circa 10 minute). Compară cu un e-mail prin care trimiți o lucrare la corectat: nu trimiți doar atașamentul, ci spui ce e, de ce l-ai făcut și la ce să fie atent cel care citește. Treci prin exemplu. „Ce face” e o frază. „De ce” leagă PR-ul de issue-ul #57, deci cititorul poate vedea cererea inițială. „Cum se verifică” îi economisește timp colegului: nu trebuie să ghicească unde să dea clic. Ultima secțiune e cea mai matură: autorul spune singur unde nu e sigur. Asta nu e un semn de slăbiciune, ci de profesionalism; recenzorul își concentrează atenția acolo. Regula dimensiunii: un PR de 50 de rânduri primește comentarii atente; unul de 2.000 de rânduri primește de obicei un „arată bine” grăbit, pentru că nimeni nu are timp să-l citească pe tot. Ca la un text: un capitol se corectează bine, o carte întreagă dintr-odată nu.</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Comentariile din code review (circa 12 minute). Legătura directă cu ce știu despre feedback: un comentariu bun are situația (unde: rândul 42), comportamentul (ce se întâmplă: returnează null) și impactul sau sugestia (putem trata cazul?). Treci prin rânduri. Primul: „Greșit” obligă autorul să ghicească ce e greșit. Al doilea: două semne de întrebare transformă o întrebare într-un reproș; aceeași întrebare, formulată calm și cu motivul („ca să înțeleg”), deschide o discuție. Al treilea: „nit” (de la „nitpick”, adică un detaliu mărunt) e o convenție larg folosită; anunță că observația e minoră și că autorul poate decide singur. Separă clar ce e obligatoriu de ce e opțional. Al patrulea: LGTM înseamnă „Looks good to me” („mi se pare bine”). Pe un PR uriaș, e adesea un semn că nu a fost citit. Un recenzor onest spune ce a verificat și ce nu. Exercițiu (5 minute, în perechi): dă-le pe tablă trei comentarii slabe inventate de tine și cere-le să le rescrie în varianta utilă.</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Tonul în comunicarea scrisă (circa 10 minute) și încheierea părții a cincea. Ideea centrală: în scris lipsesc vocea, fața și gesturile, deci cititorul completează tonul singur, iar de obicei îl citește mai dur decât a fost intenționat. „Ok.” poate suna supărat; „Ok, mulțumesc!” sună prietenos. Din acest motiv, în comentariile scrise e bine să fii puțin mai politicos decât ai fi față în față. Coloana stângă: „Comentezi codul, nu persoana” înseamnă „funcția asta e lentă”, nu „ai scris o funcție lentă”. Formularea cu „noi” ajută: „putem simplifica asta?” Coloana dreaptă e mai grea: e greu să nu iei personal critica la munca ta. Spune-le că și programatorii cu experiență primesc zeci de comentarii; e o parte normală a muncii. Ultimul punct: dacă un fir de comentarii are mai mult de trei-patru schimburi, un apel de cinci minute rezolvă mai repede. După apel, scrii concluzia în PR, ca să rămână consemnată. Întrebare pentru sală: „Ați primit vreodată un mesaj scris care v-a supărat, iar apoi ați aflat că persoana nu voia să sune așa?” Lasă 2–3 povești.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Tranziție spre ultima parte de conținut. Spune: „Până acum am vorbit despre textele de zi cu zi. Un proiect are nevoie și de documente care stabilesc regulile: cum contribui, cum te porți, ce ai voie să faci cu codul. Și, la final, o idee pe care poate n-ați luat-o în calcul: GitHub nu e doar pentru cod. Îl puteți folosi pentru orice text care are mai multe versiuni, inclusiv lucrarea de licență.”</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Fișierele unui proiect (circa 8 minute). Fiecare fișier răspunde unei întrebări pe care ar pune-o cineva care nu te cunoaște. CONTRIBUTING spune pașii: cum îți faci o ramură, ce stil de cod se folosește, cum rulezi testele, cum scrii mesajele de commit. Fără el, fiecare contribuitor nou pune aceleași întrebări. CODE_OF_CONDUCT stabilește cum se poartă oamenii între ei și cui te adresezi dacă cineva încalcă regulile; e echivalentul regulamentului unei comunități. LICENSE: amintește-le că fără licență codul public nu poate fi folosit legal de alții. Site-ul choosealicense.com explică licențele pe înțeles. CHANGELOG e scris pentru utilizatori, nu pentru programatori: „Am adăugat exportul în PDF”, nu „refactor la modulul de export”. E un exercițiu bun de adaptare a textului la cititor. SECURITY: o vulnerabilitate nu se raportează într-un issue public, pentru că oricine ar putea s-o exploateze înainte să fie reparată. GitHub verifică automat dacă aceste fișiere există și le arată în secțiunea „Community Standards” a proiectului (tab-ul Insights).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 Pages și Discussions (circa 7 minute). Wiki: când documentația crește, README-ul devine prea lung; atunci detaliile se mută în wiki, iar README-ul doar trimite acolo. Regula de redactare: fiecare pagină are un singur subiect și un titlu clar, ca să poată fi găsită. GitHub Pages: dintr-un repository cu fișiere HTML sau Markdown, GitHub publică un site la o adresă de tipul nume-utilizator.github.io. E cea mai simplă cale prin care un student își poate face un portofoliu online gratuit; merită subliniat, e util la căutarea unui stagiu. Discussions: separă întrebările de probleme. „Cum fac X?” merge în Discussions; „X nu funcționează” merge în Issues. Astfel lista de issues rămâne curată, cu lucruri care trebuie reparate. Întrebare pentru sală: „Unde ați pune întrebarea «Funcționează aplicația și pe Linux?»” Răspuns: Discussions, dacă nu știi; Issues, dacă ai încercat și nu merge.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pentru texte (circa 10 minute), ultimul slide de conținut. Întreabă mai întâi: „Câți dintre voi aveți pe calculator fișiere numite licenta_final, licenta_final2, licenta_FINAL_corectat?” Toată lumea râde. Git rezolvă exact problema asta: un singur fișier, cu toate versiunile păstrate. Treci prin cei patru pași. Markdown merge pentru texte simple; LaTeX e standardul pentru lucrări științifice cu formule și bibliografie; ambele sunt text simplu, deci Git le poate compara rând cu rând (un fișier Word nu poate fi comparat așa). Issue pentru fiecare observație: coordonatorul spune „capitolul 3 nu are concluzii”, tu deschizi un issue, îl închizi când ai rezolvat. La final, ai o listă clară cu ce s-a cerut și ce s-a făcut. Etichetele (tags) marchează versiunea trimisă, ca să poți vedea mereu exact ce a citit coordonatorul. Exemplul din dreapta e și o lecție de redactare: „foarte bune” e vag, propoziția nouă are cifre și trimite la un tabel. Fraza din exemplu e inventată, doar ca ilustrație. Precizează că repository-ul unei lucrări poate fi privat, vizibil doar pentru tine și coordonator.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Recapitulare (circa 4 minute). În loc să citești tu slide-ul, întreabă sala pentru fiecare cartonaș: „Ce rețineți despre README?” și abia apoi arată răspunsul. Așa verifici ce au înțeles și tu vorbești mai puțin. Leagă-le între ele: toate sunt aplicații ale acelorași principii de redactare, adică cititorul în minte, ideea principală întâi, concret în loc de vag și un ton calm. Dacă ai rămas în urmă cu timpul, aici poți tăia: citește doar titlurile cartonașelor.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(circa 4 minute). Completează data și platforma înainte de curs. Spune-le că nu se notează codul, ci textele: README-ul, mesajele de commit, issue-ul, descrierea PR-ului și comentariile de review. Proiectul poate fi foarte simplu; un repository cu notițele de curs scrise în Markdown e perfect valabil. Pasul 6 îi obligă să lucreze în perechi: anunță perechile la curs sau lasă-i să și le aleagă. Pentru a face review, colegul trebuie adăugat ca colaborator în repository (Settings, Collaborators) sau poate comenta direct, dacă repository-ul e public. Sugestie de notare: câte un punct pentru fiecare dintre cei șase pași, plus puncte pentru calitatea textelor.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Încheiere (circa 2 minute plus întrebări). Comanda git push trimite munca locală în proiectul comun; e o metaforă pentru ce urmează: ei duc mai departe ce au învățat. Repetă mesajul principal al zilei: în spatele fiecărui README, commit sau comentariu e un cititor real, iar regulile de redactare se aplică și acolo. Lasă timp pentru întrebări. Dacă nu întreabă nimeni, poți porni tu: „Ce credeți că veți folosi prima dată din ce am discutat azi?” Completează adresa de email înainte de curs.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720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7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720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7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0884F"/>
                </a:solidFill>
                <a:latin typeface="JetBrains Mono" pitchFamily="49" charset="0"/>
                <a:ea typeface="JetBrains Mono" pitchFamily="49" charset="-122"/>
                <a:cs typeface="JetBrains Mono" pitchFamily="49" charset="-120"/>
              </a:rPr>
              <a:t>$ git commit -m "Primul pas"</a:t>
            </a:r>
            <a:endParaRPr lang="en-US" sz="1600" dirty="0"/>
          </a:p>
        </p:txBody>
      </p:sp>
      <p:sp>
        <p:nvSpPr>
          <p:cNvPr id="3" name="Text 1"/>
          <p:cNvSpPr/>
          <p:nvPr/>
        </p:nvSpPr>
        <p:spPr>
          <a:xfrm>
            <a:off x="812800" y="285511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84F"/>
                </a:solidFill>
                <a:latin typeface="IBM Plex Sans" pitchFamily="34" charset="0"/>
                <a:ea typeface="IBM Plex Sans" pitchFamily="34" charset="-122"/>
                <a:cs typeface="IBM Plex Sans" pitchFamily="34" charset="-120"/>
              </a:rPr>
              <a:t>REDACTARE ȘI COMUNICARE </a:t>
            </a:r>
            <a:endParaRPr lang="en-US" sz="1200" dirty="0"/>
          </a:p>
        </p:txBody>
      </p:sp>
      <p:sp>
        <p:nvSpPr>
          <p:cNvPr id="4" name="Text 2"/>
          <p:cNvSpPr>
            <a:spLocks noGrp="1"/>
          </p:cNvSpPr>
          <p:nvPr>
            <p:ph type="title"/>
          </p:nvPr>
        </p:nvSpPr>
        <p:spPr>
          <a:xfrm>
            <a:off x="812800" y="3322439"/>
            <a:ext cx="9810750"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E"/>
                </a:solidFill>
                <a:latin typeface="IBM Plex Sans" pitchFamily="34" charset="0"/>
                <a:ea typeface="IBM Plex Sans" pitchFamily="34" charset="-122"/>
                <a:cs typeface="IBM Plex Sans" pitchFamily="34" charset="-120"/>
              </a:rPr>
              <a:t>GitHub pentru redactare și comunicare</a:t>
            </a:r>
            <a:endParaRPr lang="en-US" sz="4800" dirty="0"/>
          </a:p>
        </p:txBody>
      </p:sp>
      <p:sp>
        <p:nvSpPr>
          <p:cNvPr id="5" name="Text 3"/>
          <p:cNvSpPr/>
          <p:nvPr/>
        </p:nvSpPr>
        <p:spPr>
          <a:xfrm>
            <a:off x="812800" y="4917480"/>
            <a:ext cx="85026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Cum scriem clar în proiectele software: Markdown, README, commit-uri, issues și code review</a:t>
            </a:r>
            <a:endParaRPr lang="en-US" sz="20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6D1"/>
                </a:solidFill>
                <a:latin typeface="IBM Plex Sans" pitchFamily="34" charset="0"/>
                <a:ea typeface="IBM Plex Sans" pitchFamily="34" charset="-122"/>
                <a:cs typeface="IBM Plex Sans" pitchFamily="34" charset="-120"/>
              </a:rPr>
              <a:t>Caloian Sorin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AGENDA</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Ce </a:t>
            </a:r>
            <a:r>
              <a:rPr lang="en-US" sz="3200" b="1" i="0" dirty="0" err="1">
                <a:solidFill>
                  <a:srgbClr val="17202B"/>
                </a:solidFill>
                <a:latin typeface="IBM Plex Sans" pitchFamily="34" charset="0"/>
                <a:ea typeface="IBM Plex Sans" pitchFamily="34" charset="-122"/>
                <a:cs typeface="IBM Plex Sans" pitchFamily="34" charset="-120"/>
              </a:rPr>
              <a:t>facem</a:t>
            </a:r>
            <a:r>
              <a:rPr lang="en-US" sz="3200" b="1" i="0" dirty="0">
                <a:solidFill>
                  <a:srgbClr val="17202B"/>
                </a:solidFill>
                <a:latin typeface="IBM Plex Sans" pitchFamily="34" charset="0"/>
                <a:ea typeface="IBM Plex Sans" pitchFamily="34" charset="-122"/>
                <a:cs typeface="IBM Plex Sans" pitchFamily="34" charset="-120"/>
              </a:rPr>
              <a:t> </a:t>
            </a:r>
            <a:r>
              <a:rPr lang="en-US" sz="3200" b="1" i="0" dirty="0" err="1">
                <a:solidFill>
                  <a:srgbClr val="17202B"/>
                </a:solidFill>
                <a:latin typeface="IBM Plex Sans" pitchFamily="34" charset="0"/>
                <a:ea typeface="IBM Plex Sans" pitchFamily="34" charset="-122"/>
                <a:cs typeface="IBM Plex Sans" pitchFamily="34" charset="-120"/>
              </a:rPr>
              <a:t>ast</a:t>
            </a:r>
            <a:r>
              <a:rPr lang="ro-RO" b="1" dirty="0"/>
              <a:t>ăzi?</a:t>
            </a:r>
            <a:endParaRPr lang="en-US" sz="3200" dirty="0"/>
          </a:p>
        </p:txBody>
      </p:sp>
      <p:sp>
        <p:nvSpPr>
          <p:cNvPr id="4" name="Shape 2"/>
          <p:cNvSpPr/>
          <p:nvPr/>
        </p:nvSpPr>
        <p:spPr>
          <a:xfrm>
            <a:off x="812800" y="1933476"/>
            <a:ext cx="5080000" cy="0"/>
          </a:xfrm>
          <a:prstGeom prst="line">
            <a:avLst/>
          </a:prstGeom>
          <a:noFill/>
          <a:ln w="6350">
            <a:solidFill>
              <a:srgbClr val="DDD8CE"/>
            </a:solidFill>
            <a:prstDash val="solid"/>
          </a:ln>
        </p:spPr>
        <p:txBody>
          <a:bodyPr/>
          <a:lstStyle/>
          <a:p>
            <a:endParaRPr lang="en-US"/>
          </a:p>
        </p:txBody>
      </p:sp>
      <p:sp>
        <p:nvSpPr>
          <p:cNvPr id="5" name="Text 3"/>
          <p:cNvSpPr/>
          <p:nvPr/>
        </p:nvSpPr>
        <p:spPr>
          <a:xfrm>
            <a:off x="812800" y="208905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25 min</a:t>
            </a:r>
            <a:endParaRPr lang="en-US" sz="1400" dirty="0"/>
          </a:p>
        </p:txBody>
      </p:sp>
      <p:sp>
        <p:nvSpPr>
          <p:cNvPr id="6" name="Text 4"/>
          <p:cNvSpPr/>
          <p:nvPr/>
        </p:nvSpPr>
        <p:spPr>
          <a:xfrm>
            <a:off x="1778000" y="2063651"/>
            <a:ext cx="281154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Introducere: Git și GitHub</a:t>
            </a:r>
            <a:endParaRPr lang="en-US" sz="1600" dirty="0"/>
          </a:p>
        </p:txBody>
      </p:sp>
      <p:sp>
        <p:nvSpPr>
          <p:cNvPr id="7" name="Shape 5"/>
          <p:cNvSpPr/>
          <p:nvPr/>
        </p:nvSpPr>
        <p:spPr>
          <a:xfrm>
            <a:off x="6299200" y="1933476"/>
            <a:ext cx="5080000" cy="0"/>
          </a:xfrm>
          <a:prstGeom prst="line">
            <a:avLst/>
          </a:prstGeom>
          <a:noFill/>
          <a:ln w="6350">
            <a:solidFill>
              <a:srgbClr val="DDD8CE"/>
            </a:solidFill>
            <a:prstDash val="solid"/>
          </a:ln>
        </p:spPr>
        <p:txBody>
          <a:bodyPr/>
          <a:lstStyle/>
          <a:p>
            <a:endParaRPr lang="en-US"/>
          </a:p>
        </p:txBody>
      </p:sp>
      <p:sp>
        <p:nvSpPr>
          <p:cNvPr id="8" name="Text 6"/>
          <p:cNvSpPr/>
          <p:nvPr/>
        </p:nvSpPr>
        <p:spPr>
          <a:xfrm>
            <a:off x="6299200" y="208905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15 min</a:t>
            </a:r>
            <a:endParaRPr lang="en-US" sz="1400" dirty="0"/>
          </a:p>
        </p:txBody>
      </p:sp>
      <p:sp>
        <p:nvSpPr>
          <p:cNvPr id="9" name="Text 7"/>
          <p:cNvSpPr/>
          <p:nvPr/>
        </p:nvSpPr>
        <p:spPr>
          <a:xfrm>
            <a:off x="7264400" y="2063651"/>
            <a:ext cx="65746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Pauză</a:t>
            </a:r>
            <a:endParaRPr lang="en-US" sz="1600" dirty="0"/>
          </a:p>
        </p:txBody>
      </p:sp>
      <p:sp>
        <p:nvSpPr>
          <p:cNvPr id="10" name="Shape 8"/>
          <p:cNvSpPr/>
          <p:nvPr/>
        </p:nvSpPr>
        <p:spPr>
          <a:xfrm>
            <a:off x="812800" y="2478286"/>
            <a:ext cx="5080000" cy="0"/>
          </a:xfrm>
          <a:prstGeom prst="line">
            <a:avLst/>
          </a:prstGeom>
          <a:noFill/>
          <a:ln w="6350">
            <a:solidFill>
              <a:srgbClr val="DDD8CE"/>
            </a:solidFill>
            <a:prstDash val="solid"/>
          </a:ln>
        </p:spPr>
        <p:txBody>
          <a:bodyPr/>
          <a:lstStyle/>
          <a:p>
            <a:endParaRPr lang="en-US"/>
          </a:p>
        </p:txBody>
      </p:sp>
      <p:sp>
        <p:nvSpPr>
          <p:cNvPr id="11" name="Text 9"/>
          <p:cNvSpPr/>
          <p:nvPr/>
        </p:nvSpPr>
        <p:spPr>
          <a:xfrm>
            <a:off x="812800" y="263386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35 min</a:t>
            </a:r>
            <a:endParaRPr lang="en-US" sz="1400" dirty="0"/>
          </a:p>
        </p:txBody>
      </p:sp>
      <p:sp>
        <p:nvSpPr>
          <p:cNvPr id="12" name="Text 10"/>
          <p:cNvSpPr/>
          <p:nvPr/>
        </p:nvSpPr>
        <p:spPr>
          <a:xfrm>
            <a:off x="1778000" y="2608461"/>
            <a:ext cx="141529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1. Markdown</a:t>
            </a:r>
            <a:endParaRPr lang="en-US" sz="1600" dirty="0"/>
          </a:p>
        </p:txBody>
      </p:sp>
      <p:sp>
        <p:nvSpPr>
          <p:cNvPr id="13" name="Shape 11"/>
          <p:cNvSpPr/>
          <p:nvPr/>
        </p:nvSpPr>
        <p:spPr>
          <a:xfrm>
            <a:off x="6299200" y="2478286"/>
            <a:ext cx="5080000" cy="0"/>
          </a:xfrm>
          <a:prstGeom prst="line">
            <a:avLst/>
          </a:prstGeom>
          <a:noFill/>
          <a:ln w="6350">
            <a:solidFill>
              <a:srgbClr val="DDD8CE"/>
            </a:solidFill>
            <a:prstDash val="solid"/>
          </a:ln>
        </p:spPr>
        <p:txBody>
          <a:bodyPr/>
          <a:lstStyle/>
          <a:p>
            <a:endParaRPr lang="en-US"/>
          </a:p>
        </p:txBody>
      </p:sp>
      <p:sp>
        <p:nvSpPr>
          <p:cNvPr id="14" name="Text 12"/>
          <p:cNvSpPr/>
          <p:nvPr/>
        </p:nvSpPr>
        <p:spPr>
          <a:xfrm>
            <a:off x="6299200" y="263386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30 min</a:t>
            </a:r>
            <a:endParaRPr lang="en-US" sz="1400" dirty="0"/>
          </a:p>
        </p:txBody>
      </p:sp>
      <p:sp>
        <p:nvSpPr>
          <p:cNvPr id="15" name="Text 13"/>
          <p:cNvSpPr/>
          <p:nvPr/>
        </p:nvSpPr>
        <p:spPr>
          <a:xfrm>
            <a:off x="7264400" y="2608461"/>
            <a:ext cx="99488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4. Issues</a:t>
            </a:r>
            <a:endParaRPr lang="en-US" sz="1600" dirty="0"/>
          </a:p>
        </p:txBody>
      </p:sp>
      <p:sp>
        <p:nvSpPr>
          <p:cNvPr id="16" name="Shape 14"/>
          <p:cNvSpPr/>
          <p:nvPr/>
        </p:nvSpPr>
        <p:spPr>
          <a:xfrm>
            <a:off x="812800" y="3023096"/>
            <a:ext cx="5080000" cy="0"/>
          </a:xfrm>
          <a:prstGeom prst="line">
            <a:avLst/>
          </a:prstGeom>
          <a:noFill/>
          <a:ln w="6350">
            <a:solidFill>
              <a:srgbClr val="DDD8CE"/>
            </a:solidFill>
            <a:prstDash val="solid"/>
          </a:ln>
        </p:spPr>
        <p:txBody>
          <a:bodyPr/>
          <a:lstStyle/>
          <a:p>
            <a:endParaRPr lang="en-US"/>
          </a:p>
        </p:txBody>
      </p:sp>
      <p:sp>
        <p:nvSpPr>
          <p:cNvPr id="17" name="Text 15"/>
          <p:cNvSpPr/>
          <p:nvPr/>
        </p:nvSpPr>
        <p:spPr>
          <a:xfrm>
            <a:off x="812800" y="317867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35 min</a:t>
            </a:r>
            <a:endParaRPr lang="en-US" sz="1400" dirty="0"/>
          </a:p>
        </p:txBody>
      </p:sp>
      <p:sp>
        <p:nvSpPr>
          <p:cNvPr id="18" name="Text 16"/>
          <p:cNvSpPr/>
          <p:nvPr/>
        </p:nvSpPr>
        <p:spPr>
          <a:xfrm>
            <a:off x="1778000" y="3153271"/>
            <a:ext cx="122848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2. README</a:t>
            </a:r>
            <a:endParaRPr lang="en-US" sz="1600" dirty="0"/>
          </a:p>
        </p:txBody>
      </p:sp>
      <p:sp>
        <p:nvSpPr>
          <p:cNvPr id="19" name="Shape 17"/>
          <p:cNvSpPr/>
          <p:nvPr/>
        </p:nvSpPr>
        <p:spPr>
          <a:xfrm>
            <a:off x="6299200" y="3023096"/>
            <a:ext cx="5080000" cy="0"/>
          </a:xfrm>
          <a:prstGeom prst="line">
            <a:avLst/>
          </a:prstGeom>
          <a:noFill/>
          <a:ln w="6350">
            <a:solidFill>
              <a:srgbClr val="DDD8CE"/>
            </a:solidFill>
            <a:prstDash val="solid"/>
          </a:ln>
        </p:spPr>
        <p:txBody>
          <a:bodyPr/>
          <a:lstStyle/>
          <a:p>
            <a:endParaRPr lang="en-US"/>
          </a:p>
        </p:txBody>
      </p:sp>
      <p:sp>
        <p:nvSpPr>
          <p:cNvPr id="20" name="Text 18"/>
          <p:cNvSpPr/>
          <p:nvPr/>
        </p:nvSpPr>
        <p:spPr>
          <a:xfrm>
            <a:off x="6299200" y="317867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35 min</a:t>
            </a:r>
            <a:endParaRPr lang="en-US" sz="1400" dirty="0"/>
          </a:p>
        </p:txBody>
      </p:sp>
      <p:sp>
        <p:nvSpPr>
          <p:cNvPr id="21" name="Text 19"/>
          <p:cNvSpPr/>
          <p:nvPr/>
        </p:nvSpPr>
        <p:spPr>
          <a:xfrm>
            <a:off x="7264400" y="3153271"/>
            <a:ext cx="330922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5. Pull requests și code review</a:t>
            </a:r>
            <a:endParaRPr lang="en-US" sz="1600" dirty="0"/>
          </a:p>
        </p:txBody>
      </p:sp>
      <p:sp>
        <p:nvSpPr>
          <p:cNvPr id="22" name="Shape 20"/>
          <p:cNvSpPr/>
          <p:nvPr/>
        </p:nvSpPr>
        <p:spPr>
          <a:xfrm>
            <a:off x="812800" y="3567906"/>
            <a:ext cx="5080000" cy="0"/>
          </a:xfrm>
          <a:prstGeom prst="line">
            <a:avLst/>
          </a:prstGeom>
          <a:noFill/>
          <a:ln w="6350">
            <a:solidFill>
              <a:srgbClr val="DDD8CE"/>
            </a:solidFill>
            <a:prstDash val="solid"/>
          </a:ln>
        </p:spPr>
        <p:txBody>
          <a:bodyPr/>
          <a:lstStyle/>
          <a:p>
            <a:endParaRPr lang="en-US"/>
          </a:p>
        </p:txBody>
      </p:sp>
      <p:sp>
        <p:nvSpPr>
          <p:cNvPr id="23" name="Shape 21"/>
          <p:cNvSpPr/>
          <p:nvPr/>
        </p:nvSpPr>
        <p:spPr>
          <a:xfrm>
            <a:off x="812800" y="4112716"/>
            <a:ext cx="5080000" cy="0"/>
          </a:xfrm>
          <a:prstGeom prst="line">
            <a:avLst/>
          </a:prstGeom>
          <a:noFill/>
          <a:ln w="6350">
            <a:solidFill>
              <a:srgbClr val="DDD8CE"/>
            </a:solidFill>
            <a:prstDash val="solid"/>
          </a:ln>
        </p:spPr>
        <p:txBody>
          <a:bodyPr/>
          <a:lstStyle/>
          <a:p>
            <a:endParaRPr lang="en-US"/>
          </a:p>
        </p:txBody>
      </p:sp>
      <p:sp>
        <p:nvSpPr>
          <p:cNvPr id="24" name="Text 22"/>
          <p:cNvSpPr/>
          <p:nvPr/>
        </p:nvSpPr>
        <p:spPr>
          <a:xfrm>
            <a:off x="812800" y="372348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30 min</a:t>
            </a:r>
            <a:endParaRPr lang="en-US" sz="1400" dirty="0"/>
          </a:p>
        </p:txBody>
      </p:sp>
      <p:sp>
        <p:nvSpPr>
          <p:cNvPr id="25" name="Text 23"/>
          <p:cNvSpPr/>
          <p:nvPr/>
        </p:nvSpPr>
        <p:spPr>
          <a:xfrm>
            <a:off x="1778000" y="3698081"/>
            <a:ext cx="246649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3. Mesajele de commit</a:t>
            </a:r>
            <a:endParaRPr lang="en-US" sz="1600" dirty="0"/>
          </a:p>
        </p:txBody>
      </p:sp>
      <p:sp>
        <p:nvSpPr>
          <p:cNvPr id="26" name="Shape 24"/>
          <p:cNvSpPr/>
          <p:nvPr/>
        </p:nvSpPr>
        <p:spPr>
          <a:xfrm>
            <a:off x="6299200" y="3567906"/>
            <a:ext cx="5080000" cy="0"/>
          </a:xfrm>
          <a:prstGeom prst="line">
            <a:avLst/>
          </a:prstGeom>
          <a:noFill/>
          <a:ln w="6350">
            <a:solidFill>
              <a:srgbClr val="DDD8CE"/>
            </a:solidFill>
            <a:prstDash val="solid"/>
          </a:ln>
        </p:spPr>
        <p:txBody>
          <a:bodyPr/>
          <a:lstStyle/>
          <a:p>
            <a:endParaRPr lang="en-US"/>
          </a:p>
        </p:txBody>
      </p:sp>
      <p:sp>
        <p:nvSpPr>
          <p:cNvPr id="27" name="Text 25"/>
          <p:cNvSpPr/>
          <p:nvPr/>
        </p:nvSpPr>
        <p:spPr>
          <a:xfrm>
            <a:off x="6299200" y="372348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25 min</a:t>
            </a:r>
            <a:endParaRPr lang="en-US" sz="1400" dirty="0"/>
          </a:p>
        </p:txBody>
      </p:sp>
      <p:sp>
        <p:nvSpPr>
          <p:cNvPr id="28" name="Text 26"/>
          <p:cNvSpPr/>
          <p:nvPr/>
        </p:nvSpPr>
        <p:spPr>
          <a:xfrm>
            <a:off x="7264400" y="3698081"/>
            <a:ext cx="328088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6. Documentație și colaborare</a:t>
            </a:r>
            <a:endParaRPr lang="en-US" sz="1600" dirty="0"/>
          </a:p>
        </p:txBody>
      </p:sp>
      <p:sp>
        <p:nvSpPr>
          <p:cNvPr id="29" name="Shape 27"/>
          <p:cNvSpPr/>
          <p:nvPr/>
        </p:nvSpPr>
        <p:spPr>
          <a:xfrm>
            <a:off x="6299200" y="4119066"/>
            <a:ext cx="5080000" cy="0"/>
          </a:xfrm>
          <a:prstGeom prst="line">
            <a:avLst/>
          </a:prstGeom>
          <a:noFill/>
          <a:ln w="6350">
            <a:solidFill>
              <a:srgbClr val="DDD8CE"/>
            </a:solidFill>
            <a:prstDash val="solid"/>
          </a:ln>
        </p:spPr>
        <p:txBody>
          <a:bodyPr/>
          <a:lstStyle/>
          <a:p>
            <a:endParaRPr lang="en-US"/>
          </a:p>
        </p:txBody>
      </p:sp>
      <p:sp>
        <p:nvSpPr>
          <p:cNvPr id="30" name="Shape 28"/>
          <p:cNvSpPr/>
          <p:nvPr/>
        </p:nvSpPr>
        <p:spPr>
          <a:xfrm>
            <a:off x="6299200" y="4663877"/>
            <a:ext cx="5080000" cy="0"/>
          </a:xfrm>
          <a:prstGeom prst="line">
            <a:avLst/>
          </a:prstGeom>
          <a:noFill/>
          <a:ln w="6350">
            <a:solidFill>
              <a:srgbClr val="DDD8CE"/>
            </a:solidFill>
            <a:prstDash val="solid"/>
          </a:ln>
        </p:spPr>
        <p:txBody>
          <a:bodyPr/>
          <a:lstStyle/>
          <a:p>
            <a:endParaRPr lang="en-US"/>
          </a:p>
        </p:txBody>
      </p:sp>
      <p:sp>
        <p:nvSpPr>
          <p:cNvPr id="31" name="Text 29"/>
          <p:cNvSpPr/>
          <p:nvPr/>
        </p:nvSpPr>
        <p:spPr>
          <a:xfrm>
            <a:off x="6299200" y="4274641"/>
            <a:ext cx="812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10 min</a:t>
            </a:r>
            <a:endParaRPr lang="en-US" sz="1400" dirty="0"/>
          </a:p>
        </p:txBody>
      </p:sp>
      <p:sp>
        <p:nvSpPr>
          <p:cNvPr id="32" name="Text 30"/>
          <p:cNvSpPr/>
          <p:nvPr/>
        </p:nvSpPr>
        <p:spPr>
          <a:xfrm>
            <a:off x="7264400" y="4249241"/>
            <a:ext cx="224075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2B"/>
                </a:solidFill>
                <a:latin typeface="IBM Plex Sans" pitchFamily="34" charset="0"/>
                <a:ea typeface="IBM Plex Sans" pitchFamily="34" charset="-122"/>
                <a:cs typeface="IBM Plex Sans" pitchFamily="34" charset="-120"/>
              </a:rPr>
              <a:t>Recapitulare și temă</a:t>
            </a:r>
            <a:endParaRPr lang="en-US" sz="16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DE CE GITHUB?</a:t>
            </a:r>
            <a:endParaRPr lang="en-US" sz="1200" dirty="0"/>
          </a:p>
        </p:txBody>
      </p:sp>
      <p:sp>
        <p:nvSpPr>
          <p:cNvPr id="3" name="Text 1"/>
          <p:cNvSpPr>
            <a:spLocks noGrp="1"/>
          </p:cNvSpPr>
          <p:nvPr>
            <p:ph type="title"/>
          </p:nvPr>
        </p:nvSpPr>
        <p:spPr>
          <a:xfrm>
            <a:off x="812800" y="1127720"/>
            <a:ext cx="9810750"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202B"/>
                </a:solidFill>
                <a:latin typeface="IBM Plex Sans" pitchFamily="34" charset="0"/>
                <a:ea typeface="IBM Plex Sans" pitchFamily="34" charset="-122"/>
                <a:cs typeface="IBM Plex Sans" pitchFamily="34" charset="-120"/>
              </a:rPr>
              <a:t>Într-un proiect software, aproape totul se comunică în scris</a:t>
            </a:r>
            <a:endParaRPr lang="en-US" sz="3200" dirty="0"/>
          </a:p>
        </p:txBody>
      </p:sp>
      <p:sp>
        <p:nvSpPr>
          <p:cNvPr id="4" name="Shape 2"/>
          <p:cNvSpPr/>
          <p:nvPr/>
        </p:nvSpPr>
        <p:spPr>
          <a:xfrm>
            <a:off x="815975" y="4481413"/>
            <a:ext cx="3380284"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073150" y="4738588"/>
            <a:ext cx="29519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Colegii de echipă</a:t>
            </a:r>
            <a:endParaRPr lang="en-US" sz="1600" dirty="0"/>
          </a:p>
        </p:txBody>
      </p:sp>
      <p:sp>
        <p:nvSpPr>
          <p:cNvPr id="6" name="Text 4"/>
          <p:cNvSpPr/>
          <p:nvPr/>
        </p:nvSpPr>
        <p:spPr>
          <a:xfrm>
            <a:off x="1073150" y="5083969"/>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Citesc ce ai schimbat, de ce și ce rămâne de făcut.</a:t>
            </a:r>
            <a:endParaRPr lang="en-US" sz="1400" dirty="0"/>
          </a:p>
        </p:txBody>
      </p:sp>
      <p:sp>
        <p:nvSpPr>
          <p:cNvPr id="7" name="Shape 5"/>
          <p:cNvSpPr/>
          <p:nvPr/>
        </p:nvSpPr>
        <p:spPr>
          <a:xfrm>
            <a:off x="4405809" y="4481413"/>
            <a:ext cx="3380383"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8" name="Text 6"/>
          <p:cNvSpPr/>
          <p:nvPr/>
        </p:nvSpPr>
        <p:spPr>
          <a:xfrm>
            <a:off x="4662984" y="4738588"/>
            <a:ext cx="29520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Utilizatorii</a:t>
            </a:r>
            <a:endParaRPr lang="en-US" sz="1600" dirty="0"/>
          </a:p>
        </p:txBody>
      </p:sp>
      <p:sp>
        <p:nvSpPr>
          <p:cNvPr id="9" name="Text 7"/>
          <p:cNvSpPr/>
          <p:nvPr/>
        </p:nvSpPr>
        <p:spPr>
          <a:xfrm>
            <a:off x="4662984" y="5083969"/>
            <a:ext cx="295201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Află din README ce face proiectul și cum îl folosesc.</a:t>
            </a:r>
            <a:endParaRPr lang="en-US" sz="1400" dirty="0"/>
          </a:p>
        </p:txBody>
      </p:sp>
      <p:sp>
        <p:nvSpPr>
          <p:cNvPr id="10" name="Shape 8"/>
          <p:cNvSpPr/>
          <p:nvPr/>
        </p:nvSpPr>
        <p:spPr>
          <a:xfrm>
            <a:off x="7995741" y="4481413"/>
            <a:ext cx="3380284"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11" name="Text 9"/>
          <p:cNvSpPr/>
          <p:nvPr/>
        </p:nvSpPr>
        <p:spPr>
          <a:xfrm>
            <a:off x="8252916" y="4738588"/>
            <a:ext cx="29519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Tu, peste 6 luni</a:t>
            </a:r>
            <a:endParaRPr lang="en-US" sz="1600" dirty="0"/>
          </a:p>
        </p:txBody>
      </p:sp>
      <p:sp>
        <p:nvSpPr>
          <p:cNvPr id="12" name="Text 10"/>
          <p:cNvSpPr/>
          <p:nvPr/>
        </p:nvSpPr>
        <p:spPr>
          <a:xfrm>
            <a:off x="8252916" y="5083969"/>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Nu-ți vei mai aminti nimic din ce n-ai scris.</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INTRODUCERE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Git și GitHub nu sunt același lucru</a:t>
            </a:r>
            <a:endParaRPr lang="en-US" sz="3200" dirty="0"/>
          </a:p>
        </p:txBody>
      </p:sp>
      <p:sp>
        <p:nvSpPr>
          <p:cNvPr id="4" name="Shape 2"/>
          <p:cNvSpPr/>
          <p:nvPr/>
        </p:nvSpPr>
        <p:spPr>
          <a:xfrm>
            <a:off x="815975" y="3584873"/>
            <a:ext cx="5181600" cy="2253952"/>
          </a:xfrm>
          <a:prstGeom prst="roundRect">
            <a:avLst>
              <a:gd name="adj" fmla="val 4367"/>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123950" y="3892848"/>
            <a:ext cx="47026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01E"/>
                </a:solidFill>
                <a:latin typeface="JetBrains Mono" pitchFamily="49" charset="0"/>
                <a:ea typeface="JetBrains Mono" pitchFamily="49" charset="-122"/>
                <a:cs typeface="JetBrains Mono" pitchFamily="49" charset="-120"/>
              </a:rPr>
              <a:t>git</a:t>
            </a:r>
            <a:endParaRPr lang="en-US" sz="2000" dirty="0"/>
          </a:p>
        </p:txBody>
      </p:sp>
      <p:sp>
        <p:nvSpPr>
          <p:cNvPr id="6" name="Text 4"/>
          <p:cNvSpPr/>
          <p:nvPr/>
        </p:nvSpPr>
        <p:spPr>
          <a:xfrm>
            <a:off x="1123950" y="4400848"/>
            <a:ext cx="47026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Un program pe calculatorul tău</a:t>
            </a:r>
            <a:endParaRPr lang="en-US" sz="1600" dirty="0"/>
          </a:p>
        </p:txBody>
      </p:sp>
      <p:sp>
        <p:nvSpPr>
          <p:cNvPr id="7" name="Text 5"/>
          <p:cNvSpPr/>
          <p:nvPr/>
        </p:nvSpPr>
        <p:spPr>
          <a:xfrm>
            <a:off x="1123950" y="4797028"/>
            <a:ext cx="470262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Ține istoricul fiecărei modificări a fișierelor. Poți reveni oricând la o versiune veche. Funcționează și fără internet.</a:t>
            </a:r>
            <a:endParaRPr lang="en-US" sz="1400" dirty="0"/>
          </a:p>
        </p:txBody>
      </p:sp>
      <p:sp>
        <p:nvSpPr>
          <p:cNvPr id="8" name="Shape 6"/>
          <p:cNvSpPr/>
          <p:nvPr/>
        </p:nvSpPr>
        <p:spPr>
          <a:xfrm>
            <a:off x="6203950" y="3581698"/>
            <a:ext cx="5175250" cy="2260302"/>
          </a:xfrm>
          <a:prstGeom prst="roundRect">
            <a:avLst>
              <a:gd name="adj" fmla="val 4495"/>
            </a:avLst>
          </a:prstGeom>
          <a:solidFill>
            <a:srgbClr val="17202B"/>
          </a:solidFill>
          <a:ln/>
        </p:spPr>
        <p:txBody>
          <a:bodyPr/>
          <a:lstStyle/>
          <a:p>
            <a:endParaRPr lang="en-US"/>
          </a:p>
        </p:txBody>
      </p:sp>
      <p:sp>
        <p:nvSpPr>
          <p:cNvPr id="9" name="Text 7"/>
          <p:cNvSpPr/>
          <p:nvPr/>
        </p:nvSpPr>
        <p:spPr>
          <a:xfrm>
            <a:off x="6508750" y="3886498"/>
            <a:ext cx="47026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0884F"/>
                </a:solidFill>
                <a:latin typeface="JetBrains Mono" pitchFamily="49" charset="0"/>
                <a:ea typeface="JetBrains Mono" pitchFamily="49" charset="-122"/>
                <a:cs typeface="JetBrains Mono" pitchFamily="49" charset="-120"/>
              </a:rPr>
              <a:t>GitHub</a:t>
            </a:r>
            <a:endParaRPr lang="en-US" sz="2000" dirty="0"/>
          </a:p>
        </p:txBody>
      </p:sp>
      <p:sp>
        <p:nvSpPr>
          <p:cNvPr id="10" name="Text 8"/>
          <p:cNvSpPr/>
          <p:nvPr/>
        </p:nvSpPr>
        <p:spPr>
          <a:xfrm>
            <a:off x="6508750" y="4394498"/>
            <a:ext cx="47026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Un site unde echipa lucrează împreună</a:t>
            </a:r>
            <a:endParaRPr lang="en-US" sz="1600" dirty="0"/>
          </a:p>
        </p:txBody>
      </p:sp>
      <p:sp>
        <p:nvSpPr>
          <p:cNvPr id="11" name="Text 9"/>
          <p:cNvSpPr/>
          <p:nvPr/>
        </p:nvSpPr>
        <p:spPr>
          <a:xfrm>
            <a:off x="6508750" y="4790678"/>
            <a:ext cx="4702620"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6D1"/>
                </a:solidFill>
                <a:latin typeface="IBM Plex Sans" pitchFamily="34" charset="0"/>
                <a:ea typeface="IBM Plex Sans" pitchFamily="34" charset="-122"/>
                <a:cs typeface="IBM Plex Sans" pitchFamily="34" charset="-120"/>
              </a:rPr>
              <a:t>Găzduiește proiectele Git online și adaugă instrumentele de comunicare: README, issues, pull requests, comentarii, wiki.</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INTRODUCERE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Șase cuvinte pe care le vom folosi azi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253187"/>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64741">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Termen</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Ce înseamnă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Echivalentul din scris</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4647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repository</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Dosarul proiectului, cu tot istoricul</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Dosarul cu toate versiunile unei lucrări</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647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commit</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O modificare salvată, cu un mesaj</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O intrare într-un jurnal</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647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branch</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O ramură de lucru separată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O ciornă paralelă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647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pull request</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Cererea de a integra o ramură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„Te rog să citești și să aprobi”</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4647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issue</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O problemă sau o sarcină discutată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Un bilet pe tabla echipei</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4647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code review</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Citirea critică a modificărilor</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Corectura făcută de un coleg</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INTRODUCERE</a:t>
            </a:r>
            <a:endParaRPr lang="en-US" sz="1200" dirty="0"/>
          </a:p>
        </p:txBody>
      </p:sp>
      <p:sp>
        <p:nvSpPr>
          <p:cNvPr id="3" name="Text 1"/>
          <p:cNvSpPr>
            <a:spLocks noGrp="1"/>
          </p:cNvSpPr>
          <p:nvPr>
            <p:ph type="title"/>
          </p:nvPr>
        </p:nvSpPr>
        <p:spPr>
          <a:xfrm>
            <a:off x="812800" y="1127720"/>
            <a:ext cx="9810750"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La fiecare pas al fluxului de lucru, scrii ceva pentru alții</a:t>
            </a:r>
            <a:endParaRPr lang="en-US" sz="3200" dirty="0"/>
          </a:p>
        </p:txBody>
      </p:sp>
      <p:sp>
        <p:nvSpPr>
          <p:cNvPr id="4" name="Shape 2"/>
          <p:cNvSpPr/>
          <p:nvPr/>
        </p:nvSpPr>
        <p:spPr>
          <a:xfrm>
            <a:off x="815975" y="4017863"/>
            <a:ext cx="1743670" cy="1820962"/>
          </a:xfrm>
          <a:prstGeom prst="roundRect">
            <a:avLst>
              <a:gd name="adj" fmla="val 5645"/>
            </a:avLst>
          </a:prstGeom>
          <a:solidFill>
            <a:srgbClr val="FCFBF8"/>
          </a:solidFill>
          <a:ln w="6350">
            <a:solidFill>
              <a:srgbClr val="DDD8CE"/>
            </a:solidFill>
            <a:prstDash val="solid"/>
          </a:ln>
        </p:spPr>
        <p:txBody>
          <a:bodyPr/>
          <a:lstStyle/>
          <a:p>
            <a:endParaRPr lang="en-US"/>
          </a:p>
        </p:txBody>
      </p:sp>
      <p:sp>
        <p:nvSpPr>
          <p:cNvPr id="5" name="Text 3"/>
          <p:cNvSpPr/>
          <p:nvPr/>
        </p:nvSpPr>
        <p:spPr>
          <a:xfrm>
            <a:off x="971550" y="4224238"/>
            <a:ext cx="14833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1. Issue</a:t>
            </a:r>
            <a:endParaRPr lang="en-US" sz="1600" dirty="0"/>
          </a:p>
        </p:txBody>
      </p:sp>
      <p:sp>
        <p:nvSpPr>
          <p:cNvPr id="6" name="Text 4"/>
          <p:cNvSpPr/>
          <p:nvPr/>
        </p:nvSpPr>
        <p:spPr>
          <a:xfrm>
            <a:off x="971550" y="4569619"/>
            <a:ext cx="14833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0"/>
                </a:solidFill>
                <a:latin typeface="IBM Plex Sans" pitchFamily="34" charset="0"/>
                <a:ea typeface="IBM Plex Sans" pitchFamily="34" charset="-122"/>
                <a:cs typeface="IBM Plex Sans" pitchFamily="34" charset="-120"/>
              </a:rPr>
              <a:t>Descrii problema sau sarcina</a:t>
            </a:r>
            <a:endParaRPr lang="en-US" sz="1200" dirty="0"/>
          </a:p>
        </p:txBody>
      </p:sp>
      <p:sp>
        <p:nvSpPr>
          <p:cNvPr id="7" name="Shape 5"/>
          <p:cNvSpPr/>
          <p:nvPr/>
        </p:nvSpPr>
        <p:spPr>
          <a:xfrm>
            <a:off x="971550" y="5101034"/>
            <a:ext cx="1432520" cy="0"/>
          </a:xfrm>
          <a:prstGeom prst="line">
            <a:avLst/>
          </a:prstGeom>
          <a:noFill/>
          <a:ln w="6350">
            <a:solidFill>
              <a:srgbClr val="DDD8CE"/>
            </a:solidFill>
            <a:prstDash val="solid"/>
          </a:ln>
        </p:spPr>
        <p:txBody>
          <a:bodyPr/>
          <a:lstStyle/>
          <a:p>
            <a:endParaRPr lang="en-US"/>
          </a:p>
        </p:txBody>
      </p:sp>
      <p:sp>
        <p:nvSpPr>
          <p:cNvPr id="8" name="Text 6"/>
          <p:cNvSpPr/>
          <p:nvPr/>
        </p:nvSpPr>
        <p:spPr>
          <a:xfrm>
            <a:off x="971550" y="5205809"/>
            <a:ext cx="14833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E"/>
                </a:solidFill>
                <a:latin typeface="JetBrains Mono" pitchFamily="49" charset="0"/>
                <a:ea typeface="JetBrains Mono" pitchFamily="49" charset="-122"/>
                <a:cs typeface="JetBrains Mono" pitchFamily="49" charset="-120"/>
              </a:rPr>
              <a:t>titlu și descriere</a:t>
            </a:r>
            <a:endParaRPr lang="en-US" sz="1200" dirty="0"/>
          </a:p>
        </p:txBody>
      </p:sp>
      <p:sp>
        <p:nvSpPr>
          <p:cNvPr id="9" name="Text 7"/>
          <p:cNvSpPr/>
          <p:nvPr/>
        </p:nvSpPr>
        <p:spPr>
          <a:xfrm>
            <a:off x="2664420" y="4750495"/>
            <a:ext cx="3048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4501E"/>
                </a:solidFill>
                <a:latin typeface="IBM Plex Sans" pitchFamily="34" charset="0"/>
                <a:ea typeface="IBM Plex Sans" pitchFamily="34" charset="-122"/>
                <a:cs typeface="IBM Plex Sans" pitchFamily="34" charset="-120"/>
              </a:rPr>
              <a:t>→</a:t>
            </a:r>
            <a:endParaRPr lang="en-US" sz="2000" dirty="0"/>
          </a:p>
        </p:txBody>
      </p:sp>
      <p:sp>
        <p:nvSpPr>
          <p:cNvPr id="10" name="Shape 8"/>
          <p:cNvSpPr/>
          <p:nvPr/>
        </p:nvSpPr>
        <p:spPr>
          <a:xfrm>
            <a:off x="3023195" y="4017863"/>
            <a:ext cx="1743770" cy="1820962"/>
          </a:xfrm>
          <a:prstGeom prst="roundRect">
            <a:avLst>
              <a:gd name="adj" fmla="val 5644"/>
            </a:avLst>
          </a:prstGeom>
          <a:solidFill>
            <a:srgbClr val="FCFBF8"/>
          </a:solidFill>
          <a:ln w="6350">
            <a:solidFill>
              <a:srgbClr val="DDD8CE"/>
            </a:solidFill>
            <a:prstDash val="solid"/>
          </a:ln>
        </p:spPr>
        <p:txBody>
          <a:bodyPr/>
          <a:lstStyle/>
          <a:p>
            <a:endParaRPr lang="en-US"/>
          </a:p>
        </p:txBody>
      </p:sp>
      <p:sp>
        <p:nvSpPr>
          <p:cNvPr id="11" name="Text 9"/>
          <p:cNvSpPr/>
          <p:nvPr/>
        </p:nvSpPr>
        <p:spPr>
          <a:xfrm>
            <a:off x="3178770" y="4224238"/>
            <a:ext cx="14834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2. Branch</a:t>
            </a:r>
            <a:endParaRPr lang="en-US" sz="1600" dirty="0"/>
          </a:p>
        </p:txBody>
      </p:sp>
      <p:sp>
        <p:nvSpPr>
          <p:cNvPr id="12" name="Text 10"/>
          <p:cNvSpPr/>
          <p:nvPr/>
        </p:nvSpPr>
        <p:spPr>
          <a:xfrm>
            <a:off x="3178770" y="4569619"/>
            <a:ext cx="14834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0"/>
                </a:solidFill>
                <a:latin typeface="IBM Plex Sans" pitchFamily="34" charset="0"/>
                <a:ea typeface="IBM Plex Sans" pitchFamily="34" charset="-122"/>
                <a:cs typeface="IBM Plex Sans" pitchFamily="34" charset="-120"/>
              </a:rPr>
              <a:t>Lucrezi separat de restul</a:t>
            </a:r>
            <a:endParaRPr lang="en-US" sz="1200" dirty="0"/>
          </a:p>
        </p:txBody>
      </p:sp>
      <p:sp>
        <p:nvSpPr>
          <p:cNvPr id="13" name="Shape 11"/>
          <p:cNvSpPr/>
          <p:nvPr/>
        </p:nvSpPr>
        <p:spPr>
          <a:xfrm>
            <a:off x="3178770" y="5101034"/>
            <a:ext cx="1432620" cy="0"/>
          </a:xfrm>
          <a:prstGeom prst="line">
            <a:avLst/>
          </a:prstGeom>
          <a:noFill/>
          <a:ln w="6350">
            <a:solidFill>
              <a:srgbClr val="DDD8CE"/>
            </a:solidFill>
            <a:prstDash val="solid"/>
          </a:ln>
        </p:spPr>
        <p:txBody>
          <a:bodyPr/>
          <a:lstStyle/>
          <a:p>
            <a:endParaRPr lang="en-US"/>
          </a:p>
        </p:txBody>
      </p:sp>
      <p:sp>
        <p:nvSpPr>
          <p:cNvPr id="14" name="Text 12"/>
          <p:cNvSpPr/>
          <p:nvPr/>
        </p:nvSpPr>
        <p:spPr>
          <a:xfrm>
            <a:off x="3178770" y="5205809"/>
            <a:ext cx="14834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E"/>
                </a:solidFill>
                <a:latin typeface="JetBrains Mono" pitchFamily="49" charset="0"/>
                <a:ea typeface="JetBrains Mono" pitchFamily="49" charset="-122"/>
                <a:cs typeface="JetBrains Mono" pitchFamily="49" charset="-120"/>
              </a:rPr>
              <a:t>numele ramurii</a:t>
            </a:r>
            <a:endParaRPr lang="en-US" sz="1200" dirty="0"/>
          </a:p>
        </p:txBody>
      </p:sp>
      <p:sp>
        <p:nvSpPr>
          <p:cNvPr id="15" name="Text 13"/>
          <p:cNvSpPr/>
          <p:nvPr/>
        </p:nvSpPr>
        <p:spPr>
          <a:xfrm>
            <a:off x="4871740" y="4750495"/>
            <a:ext cx="3048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4501E"/>
                </a:solidFill>
                <a:latin typeface="IBM Plex Sans" pitchFamily="34" charset="0"/>
                <a:ea typeface="IBM Plex Sans" pitchFamily="34" charset="-122"/>
                <a:cs typeface="IBM Plex Sans" pitchFamily="34" charset="-120"/>
              </a:rPr>
              <a:t>→</a:t>
            </a:r>
            <a:endParaRPr lang="en-US" sz="2000" dirty="0"/>
          </a:p>
        </p:txBody>
      </p:sp>
      <p:sp>
        <p:nvSpPr>
          <p:cNvPr id="16" name="Shape 14"/>
          <p:cNvSpPr/>
          <p:nvPr/>
        </p:nvSpPr>
        <p:spPr>
          <a:xfrm>
            <a:off x="5230515" y="4017863"/>
            <a:ext cx="1743670" cy="1820962"/>
          </a:xfrm>
          <a:prstGeom prst="roundRect">
            <a:avLst>
              <a:gd name="adj" fmla="val 5645"/>
            </a:avLst>
          </a:prstGeom>
          <a:solidFill>
            <a:srgbClr val="FCFBF8"/>
          </a:solidFill>
          <a:ln w="6350">
            <a:solidFill>
              <a:srgbClr val="DDD8CE"/>
            </a:solidFill>
            <a:prstDash val="solid"/>
          </a:ln>
        </p:spPr>
        <p:txBody>
          <a:bodyPr/>
          <a:lstStyle/>
          <a:p>
            <a:endParaRPr lang="en-US"/>
          </a:p>
        </p:txBody>
      </p:sp>
      <p:sp>
        <p:nvSpPr>
          <p:cNvPr id="17" name="Text 15"/>
          <p:cNvSpPr/>
          <p:nvPr/>
        </p:nvSpPr>
        <p:spPr>
          <a:xfrm>
            <a:off x="5386090" y="4224238"/>
            <a:ext cx="14833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3. Commit</a:t>
            </a:r>
            <a:endParaRPr lang="en-US" sz="1600" dirty="0"/>
          </a:p>
        </p:txBody>
      </p:sp>
      <p:sp>
        <p:nvSpPr>
          <p:cNvPr id="18" name="Text 16"/>
          <p:cNvSpPr/>
          <p:nvPr/>
        </p:nvSpPr>
        <p:spPr>
          <a:xfrm>
            <a:off x="5386090" y="4569619"/>
            <a:ext cx="1483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0"/>
                </a:solidFill>
                <a:latin typeface="IBM Plex Sans" pitchFamily="34" charset="0"/>
                <a:ea typeface="IBM Plex Sans" pitchFamily="34" charset="-122"/>
                <a:cs typeface="IBM Plex Sans" pitchFamily="34" charset="-120"/>
              </a:rPr>
              <a:t>Salvezi fiecare pas</a:t>
            </a:r>
            <a:endParaRPr lang="en-US" sz="1200" dirty="0"/>
          </a:p>
        </p:txBody>
      </p:sp>
      <p:sp>
        <p:nvSpPr>
          <p:cNvPr id="19" name="Shape 17"/>
          <p:cNvSpPr/>
          <p:nvPr/>
        </p:nvSpPr>
        <p:spPr>
          <a:xfrm>
            <a:off x="5386090" y="4887714"/>
            <a:ext cx="1432520" cy="0"/>
          </a:xfrm>
          <a:prstGeom prst="line">
            <a:avLst/>
          </a:prstGeom>
          <a:noFill/>
          <a:ln w="6350">
            <a:solidFill>
              <a:srgbClr val="DDD8CE"/>
            </a:solidFill>
            <a:prstDash val="solid"/>
          </a:ln>
        </p:spPr>
        <p:txBody>
          <a:bodyPr/>
          <a:lstStyle/>
          <a:p>
            <a:endParaRPr lang="en-US"/>
          </a:p>
        </p:txBody>
      </p:sp>
      <p:sp>
        <p:nvSpPr>
          <p:cNvPr id="20" name="Text 18"/>
          <p:cNvSpPr/>
          <p:nvPr/>
        </p:nvSpPr>
        <p:spPr>
          <a:xfrm>
            <a:off x="5386090" y="4992489"/>
            <a:ext cx="14833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E"/>
                </a:solidFill>
                <a:latin typeface="JetBrains Mono" pitchFamily="49" charset="0"/>
                <a:ea typeface="JetBrains Mono" pitchFamily="49" charset="-122"/>
                <a:cs typeface="JetBrains Mono" pitchFamily="49" charset="-120"/>
              </a:rPr>
              <a:t>mesajul de commit</a:t>
            </a:r>
            <a:endParaRPr lang="en-US" sz="1200" dirty="0"/>
          </a:p>
        </p:txBody>
      </p:sp>
      <p:sp>
        <p:nvSpPr>
          <p:cNvPr id="21" name="Text 19"/>
          <p:cNvSpPr/>
          <p:nvPr/>
        </p:nvSpPr>
        <p:spPr>
          <a:xfrm>
            <a:off x="7078960" y="4750495"/>
            <a:ext cx="3048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4501E"/>
                </a:solidFill>
                <a:latin typeface="IBM Plex Sans" pitchFamily="34" charset="0"/>
                <a:ea typeface="IBM Plex Sans" pitchFamily="34" charset="-122"/>
                <a:cs typeface="IBM Plex Sans" pitchFamily="34" charset="-120"/>
              </a:rPr>
              <a:t>→</a:t>
            </a:r>
            <a:endParaRPr lang="en-US" sz="2000" dirty="0"/>
          </a:p>
        </p:txBody>
      </p:sp>
      <p:sp>
        <p:nvSpPr>
          <p:cNvPr id="22" name="Shape 20"/>
          <p:cNvSpPr/>
          <p:nvPr/>
        </p:nvSpPr>
        <p:spPr>
          <a:xfrm>
            <a:off x="7437735" y="4017863"/>
            <a:ext cx="1743770" cy="1820962"/>
          </a:xfrm>
          <a:prstGeom prst="roundRect">
            <a:avLst>
              <a:gd name="adj" fmla="val 5644"/>
            </a:avLst>
          </a:prstGeom>
          <a:solidFill>
            <a:srgbClr val="FCFBF8"/>
          </a:solidFill>
          <a:ln w="6350">
            <a:solidFill>
              <a:srgbClr val="DDD8CE"/>
            </a:solidFill>
            <a:prstDash val="solid"/>
          </a:ln>
        </p:spPr>
        <p:txBody>
          <a:bodyPr/>
          <a:lstStyle/>
          <a:p>
            <a:endParaRPr lang="en-US"/>
          </a:p>
        </p:txBody>
      </p:sp>
      <p:sp>
        <p:nvSpPr>
          <p:cNvPr id="23" name="Text 21"/>
          <p:cNvSpPr/>
          <p:nvPr/>
        </p:nvSpPr>
        <p:spPr>
          <a:xfrm>
            <a:off x="7593310" y="4224238"/>
            <a:ext cx="14834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4. Pull request</a:t>
            </a:r>
            <a:endParaRPr lang="en-US" sz="1600" dirty="0"/>
          </a:p>
        </p:txBody>
      </p:sp>
      <p:sp>
        <p:nvSpPr>
          <p:cNvPr id="24" name="Text 22"/>
          <p:cNvSpPr/>
          <p:nvPr/>
        </p:nvSpPr>
        <p:spPr>
          <a:xfrm>
            <a:off x="7593310" y="4569619"/>
            <a:ext cx="14834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0"/>
                </a:solidFill>
                <a:latin typeface="IBM Plex Sans" pitchFamily="34" charset="0"/>
                <a:ea typeface="IBM Plex Sans" pitchFamily="34" charset="-122"/>
                <a:cs typeface="IBM Plex Sans" pitchFamily="34" charset="-120"/>
              </a:rPr>
              <a:t>Ceri echipei să citească</a:t>
            </a:r>
            <a:endParaRPr lang="en-US" sz="1200" dirty="0"/>
          </a:p>
        </p:txBody>
      </p:sp>
      <p:sp>
        <p:nvSpPr>
          <p:cNvPr id="25" name="Shape 23"/>
          <p:cNvSpPr/>
          <p:nvPr/>
        </p:nvSpPr>
        <p:spPr>
          <a:xfrm>
            <a:off x="7593310" y="5101034"/>
            <a:ext cx="1432620" cy="0"/>
          </a:xfrm>
          <a:prstGeom prst="line">
            <a:avLst/>
          </a:prstGeom>
          <a:noFill/>
          <a:ln w="6350">
            <a:solidFill>
              <a:srgbClr val="DDD8CE"/>
            </a:solidFill>
            <a:prstDash val="solid"/>
          </a:ln>
        </p:spPr>
        <p:txBody>
          <a:bodyPr/>
          <a:lstStyle/>
          <a:p>
            <a:endParaRPr lang="en-US"/>
          </a:p>
        </p:txBody>
      </p:sp>
      <p:sp>
        <p:nvSpPr>
          <p:cNvPr id="26" name="Text 24"/>
          <p:cNvSpPr/>
          <p:nvPr/>
        </p:nvSpPr>
        <p:spPr>
          <a:xfrm>
            <a:off x="7593310" y="5205809"/>
            <a:ext cx="14834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E"/>
                </a:solidFill>
                <a:latin typeface="JetBrains Mono" pitchFamily="49" charset="0"/>
                <a:ea typeface="JetBrains Mono" pitchFamily="49" charset="-122"/>
                <a:cs typeface="JetBrains Mono" pitchFamily="49" charset="-120"/>
              </a:rPr>
              <a:t>descrierea PR-ului</a:t>
            </a:r>
            <a:endParaRPr lang="en-US" sz="1200" dirty="0"/>
          </a:p>
        </p:txBody>
      </p:sp>
      <p:sp>
        <p:nvSpPr>
          <p:cNvPr id="27" name="Text 25"/>
          <p:cNvSpPr/>
          <p:nvPr/>
        </p:nvSpPr>
        <p:spPr>
          <a:xfrm>
            <a:off x="9286280" y="4750495"/>
            <a:ext cx="3048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4501E"/>
                </a:solidFill>
                <a:latin typeface="IBM Plex Sans" pitchFamily="34" charset="0"/>
                <a:ea typeface="IBM Plex Sans" pitchFamily="34" charset="-122"/>
                <a:cs typeface="IBM Plex Sans" pitchFamily="34" charset="-120"/>
              </a:rPr>
              <a:t>→</a:t>
            </a:r>
            <a:endParaRPr lang="en-US" sz="2000" dirty="0"/>
          </a:p>
        </p:txBody>
      </p:sp>
      <p:sp>
        <p:nvSpPr>
          <p:cNvPr id="28" name="Shape 26"/>
          <p:cNvSpPr/>
          <p:nvPr/>
        </p:nvSpPr>
        <p:spPr>
          <a:xfrm>
            <a:off x="9641880" y="4014688"/>
            <a:ext cx="1737320" cy="1827312"/>
          </a:xfrm>
          <a:prstGeom prst="roundRect">
            <a:avLst>
              <a:gd name="adj" fmla="val 5848"/>
            </a:avLst>
          </a:prstGeom>
          <a:solidFill>
            <a:srgbClr val="17202B"/>
          </a:solidFill>
          <a:ln/>
        </p:spPr>
        <p:txBody>
          <a:bodyPr/>
          <a:lstStyle/>
          <a:p>
            <a:endParaRPr lang="en-US"/>
          </a:p>
        </p:txBody>
      </p:sp>
      <p:sp>
        <p:nvSpPr>
          <p:cNvPr id="29" name="Text 27"/>
          <p:cNvSpPr/>
          <p:nvPr/>
        </p:nvSpPr>
        <p:spPr>
          <a:xfrm>
            <a:off x="9794280" y="4217888"/>
            <a:ext cx="14833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5. Review</a:t>
            </a:r>
            <a:endParaRPr lang="en-US" sz="1600" dirty="0"/>
          </a:p>
        </p:txBody>
      </p:sp>
      <p:sp>
        <p:nvSpPr>
          <p:cNvPr id="30" name="Text 28"/>
          <p:cNvSpPr/>
          <p:nvPr/>
        </p:nvSpPr>
        <p:spPr>
          <a:xfrm>
            <a:off x="9794280" y="4563269"/>
            <a:ext cx="14833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6D1"/>
                </a:solidFill>
                <a:latin typeface="IBM Plex Sans" pitchFamily="34" charset="0"/>
                <a:ea typeface="IBM Plex Sans" pitchFamily="34" charset="-122"/>
                <a:cs typeface="IBM Plex Sans" pitchFamily="34" charset="-120"/>
              </a:rPr>
              <a:t>Discutați, apoi integrați</a:t>
            </a:r>
            <a:endParaRPr lang="en-US" sz="1200" dirty="0"/>
          </a:p>
        </p:txBody>
      </p:sp>
      <p:sp>
        <p:nvSpPr>
          <p:cNvPr id="31" name="Shape 29"/>
          <p:cNvSpPr/>
          <p:nvPr/>
        </p:nvSpPr>
        <p:spPr>
          <a:xfrm>
            <a:off x="9794280" y="5094684"/>
            <a:ext cx="1432520" cy="0"/>
          </a:xfrm>
          <a:prstGeom prst="line">
            <a:avLst/>
          </a:prstGeom>
          <a:noFill/>
          <a:ln w="6350">
            <a:solidFill>
              <a:srgbClr val="3A4656"/>
            </a:solidFill>
            <a:prstDash val="solid"/>
          </a:ln>
        </p:spPr>
        <p:txBody>
          <a:bodyPr/>
          <a:lstStyle/>
          <a:p>
            <a:endParaRPr lang="en-US"/>
          </a:p>
        </p:txBody>
      </p:sp>
      <p:sp>
        <p:nvSpPr>
          <p:cNvPr id="32" name="Text 30"/>
          <p:cNvSpPr/>
          <p:nvPr/>
        </p:nvSpPr>
        <p:spPr>
          <a:xfrm>
            <a:off x="9794280" y="5199459"/>
            <a:ext cx="1483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884F"/>
                </a:solidFill>
                <a:latin typeface="JetBrains Mono" pitchFamily="49" charset="0"/>
                <a:ea typeface="JetBrains Mono" pitchFamily="49" charset="-122"/>
                <a:cs typeface="JetBrains Mono" pitchFamily="49" charset="-120"/>
              </a:rPr>
              <a:t>comentariile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43485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84F"/>
                </a:solidFill>
                <a:latin typeface="IBM Plex Sans" pitchFamily="34" charset="0"/>
                <a:ea typeface="IBM Plex Sans" pitchFamily="34" charset="-122"/>
                <a:cs typeface="IBM Plex Sans" pitchFamily="34" charset="-120"/>
              </a:rPr>
              <a:t>PARTEA 1 ·</a:t>
            </a:r>
            <a:endParaRPr lang="en-US" sz="1200" dirty="0"/>
          </a:p>
        </p:txBody>
      </p:sp>
      <p:sp>
        <p:nvSpPr>
          <p:cNvPr id="3" name="Text 1"/>
          <p:cNvSpPr>
            <a:spLocks noGrp="1"/>
          </p:cNvSpPr>
          <p:nvPr>
            <p:ph type="title"/>
          </p:nvPr>
        </p:nvSpPr>
        <p:spPr>
          <a:xfrm>
            <a:off x="812800" y="476508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Markdown</a:t>
            </a:r>
            <a:endParaRPr lang="en-US" sz="5600" dirty="0"/>
          </a:p>
        </p:txBody>
      </p:sp>
      <p:sp>
        <p:nvSpPr>
          <p:cNvPr id="4" name="Text 2"/>
          <p:cNvSpPr/>
          <p:nvPr/>
        </p:nvSpPr>
        <p:spPr>
          <a:xfrm>
            <a:off x="812800" y="5715000"/>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Limbajul în care se scrie aproape tot pe GitHub</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MARKDOWN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Text simplu care devine text formatat</a:t>
            </a:r>
            <a:endParaRPr lang="en-US" sz="3200" dirty="0"/>
          </a:p>
        </p:txBody>
      </p:sp>
      <p:sp>
        <p:nvSpPr>
          <p:cNvPr id="4" name="Text 2"/>
          <p:cNvSpPr/>
          <p:nvPr/>
        </p:nvSpPr>
        <p:spPr>
          <a:xfrm>
            <a:off x="812800" y="1879501"/>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CE SCRII</a:t>
            </a:r>
            <a:endParaRPr lang="en-US" sz="1200" dirty="0"/>
          </a:p>
        </p:txBody>
      </p:sp>
      <p:sp>
        <p:nvSpPr>
          <p:cNvPr id="5" name="Text 3"/>
          <p:cNvSpPr/>
          <p:nvPr/>
        </p:nvSpPr>
        <p:spPr>
          <a:xfrm>
            <a:off x="812800" y="2219821"/>
            <a:ext cx="5181600" cy="2499221"/>
          </a:xfrm>
          <a:prstGeom prst="roundRect">
            <a:avLst>
              <a:gd name="adj" fmla="val 4065"/>
            </a:avLst>
          </a:prstGeom>
          <a:solidFill>
            <a:srgbClr val="17202B"/>
          </a:solidFill>
          <a:ln/>
        </p:spPr>
        <p:txBody>
          <a:bodyPr wrap="square" lIns="224242" tIns="224242" rIns="84034" bIns="198842" rtlCol="0" anchor="t">
            <a:normAutofit/>
          </a:bodyPr>
          <a:lstStyle/>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Notițe de curs</a:t>
            </a:r>
            <a:endParaRPr lang="en-US" sz="1400" dirty="0"/>
          </a:p>
          <a:p>
            <a:pPr marL="0" indent="0" algn="l">
              <a:lnSpc>
                <a:spcPts val="2240"/>
              </a:lnSpc>
              <a:buNone/>
            </a:pP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Azi am învățat **Markdown**.</a:t>
            </a:r>
            <a:endParaRPr lang="en-US" sz="1400" dirty="0"/>
          </a:p>
          <a:p>
            <a:pPr marL="0" indent="0" algn="l">
              <a:lnSpc>
                <a:spcPts val="2240"/>
              </a:lnSpc>
              <a:buNone/>
            </a:pP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e text simplu</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se citește ușor</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devine formatat</a:t>
            </a:r>
            <a:endParaRPr lang="en-US" sz="1400" dirty="0"/>
          </a:p>
        </p:txBody>
      </p:sp>
      <p:sp>
        <p:nvSpPr>
          <p:cNvPr id="6" name="Text 4"/>
          <p:cNvSpPr/>
          <p:nvPr/>
        </p:nvSpPr>
        <p:spPr>
          <a:xfrm>
            <a:off x="6197600" y="1879501"/>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CE VEDE CITITORUL</a:t>
            </a:r>
            <a:endParaRPr lang="en-US" sz="1200" dirty="0"/>
          </a:p>
        </p:txBody>
      </p:sp>
      <p:sp>
        <p:nvSpPr>
          <p:cNvPr id="7" name="Shape 5"/>
          <p:cNvSpPr/>
          <p:nvPr/>
        </p:nvSpPr>
        <p:spPr>
          <a:xfrm>
            <a:off x="6200775" y="2222996"/>
            <a:ext cx="5175250" cy="2492871"/>
          </a:xfrm>
          <a:prstGeom prst="roundRect">
            <a:avLst>
              <a:gd name="adj" fmla="val 3948"/>
            </a:avLst>
          </a:prstGeom>
          <a:solidFill>
            <a:srgbClr val="FCFBF8"/>
          </a:solidFill>
          <a:ln w="6350">
            <a:solidFill>
              <a:srgbClr val="DDD8CE"/>
            </a:solidFill>
            <a:prstDash val="solid"/>
          </a:ln>
        </p:spPr>
        <p:txBody>
          <a:bodyPr/>
          <a:lstStyle/>
          <a:p>
            <a:endParaRPr lang="en-US"/>
          </a:p>
        </p:txBody>
      </p:sp>
      <p:sp>
        <p:nvSpPr>
          <p:cNvPr id="8" name="Text 6"/>
          <p:cNvSpPr/>
          <p:nvPr/>
        </p:nvSpPr>
        <p:spPr>
          <a:xfrm>
            <a:off x="6457950" y="2480171"/>
            <a:ext cx="4800727"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202B"/>
                </a:solidFill>
                <a:latin typeface="IBM Plex Sans" pitchFamily="34" charset="0"/>
                <a:ea typeface="IBM Plex Sans" pitchFamily="34" charset="-122"/>
                <a:cs typeface="IBM Plex Sans" pitchFamily="34" charset="-120"/>
              </a:rPr>
              <a:t>Notițe de curs</a:t>
            </a:r>
            <a:endParaRPr lang="en-US" sz="2200" dirty="0"/>
          </a:p>
        </p:txBody>
      </p:sp>
      <p:sp>
        <p:nvSpPr>
          <p:cNvPr id="9" name="Text 7"/>
          <p:cNvSpPr/>
          <p:nvPr/>
        </p:nvSpPr>
        <p:spPr>
          <a:xfrm>
            <a:off x="6457950" y="29424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Azi am învățat </a:t>
            </a:r>
            <a:r>
              <a:rPr lang="en-US" sz="1400" b="1" dirty="0">
                <a:solidFill>
                  <a:srgbClr val="17202B"/>
                </a:solidFill>
                <a:latin typeface="IBM Plex Sans" pitchFamily="34" charset="0"/>
                <a:ea typeface="IBM Plex Sans" pitchFamily="34" charset="-122"/>
                <a:cs typeface="IBM Plex Sans" pitchFamily="34" charset="-120"/>
              </a:rPr>
              <a:t>Markdown</a:t>
            </a:r>
            <a:r>
              <a:rPr lang="en-US" sz="1400" dirty="0">
                <a:solidFill>
                  <a:srgbClr val="17202B"/>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6536182" y="3318272"/>
            <a:ext cx="4714875" cy="878780"/>
          </a:xfrm>
          <a:prstGeom prst="rect">
            <a:avLst/>
          </a:prstGeom>
          <a:noFill/>
          <a:ln/>
        </p:spPr>
        <p:txBody>
          <a:bodyPr wrap="square" lIns="0" tIns="0" rIns="0" bIns="0" rtlCol="0" anchor="t">
            <a:normAutofit/>
          </a:bodyPr>
          <a:lstStyle/>
          <a:p>
            <a:pPr marL="175768" indent="-175768" algn="l">
              <a:lnSpc>
                <a:spcPts val="2240"/>
              </a:lnSpc>
              <a:buSzPct val="100000"/>
              <a:buChar char="•"/>
            </a:pPr>
            <a:r>
              <a:rPr lang="en-US" sz="1400" dirty="0">
                <a:solidFill>
                  <a:srgbClr val="17202B"/>
                </a:solidFill>
                <a:latin typeface="IBM Plex Sans" pitchFamily="34" charset="0"/>
                <a:ea typeface="IBM Plex Sans" pitchFamily="34" charset="-122"/>
                <a:cs typeface="IBM Plex Sans" pitchFamily="34" charset="-120"/>
              </a:rPr>
              <a:t>e text simplu</a:t>
            </a:r>
            <a:endParaRPr lang="en-US" sz="1400" dirty="0"/>
          </a:p>
          <a:p>
            <a:pPr marL="175768" indent="-175768" algn="l">
              <a:lnSpc>
                <a:spcPts val="2240"/>
              </a:lnSpc>
              <a:buSzPct val="100000"/>
              <a:buChar char="•"/>
            </a:pPr>
            <a:r>
              <a:rPr lang="en-US" sz="1400" dirty="0">
                <a:solidFill>
                  <a:srgbClr val="17202B"/>
                </a:solidFill>
                <a:latin typeface="IBM Plex Sans" pitchFamily="34" charset="0"/>
                <a:ea typeface="IBM Plex Sans" pitchFamily="34" charset="-122"/>
                <a:cs typeface="IBM Plex Sans" pitchFamily="34" charset="-120"/>
              </a:rPr>
              <a:t>se citește ușor</a:t>
            </a:r>
            <a:endParaRPr lang="en-US" sz="1400" dirty="0"/>
          </a:p>
          <a:p>
            <a:pPr marL="175768" indent="-175768" algn="l">
              <a:lnSpc>
                <a:spcPts val="2240"/>
              </a:lnSpc>
              <a:buSzPct val="100000"/>
              <a:buChar char="•"/>
            </a:pPr>
            <a:r>
              <a:rPr lang="en-US" sz="1400" dirty="0">
                <a:solidFill>
                  <a:srgbClr val="17202B"/>
                </a:solidFill>
                <a:latin typeface="IBM Plex Sans" pitchFamily="34" charset="0"/>
                <a:ea typeface="IBM Plex Sans" pitchFamily="34" charset="-122"/>
                <a:cs typeface="IBM Plex Sans" pitchFamily="34" charset="-120"/>
              </a:rPr>
              <a:t>devine formatat</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MARKDOWN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Opt semne acoperă aproape tot ce scrii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725469"/>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413941">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Scrii</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Obții</a:t>
                      </a:r>
                      <a:endParaRPr lang="en-US" sz="1400" dirty="0">
                        <a:latin typeface="IBM Plex Sans" charset="0"/>
                        <a:ea typeface="IBM Plex Sans" charset="0"/>
                        <a:cs typeface="IBM Plex Sans" charset="0"/>
                      </a:endParaRPr>
                    </a:p>
                  </a:txBody>
                  <a:tcPr marL="152400" marR="152400" marT="76200" marB="762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 Titlu</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Titlu principal (cel mai mare)</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 Subtitlu</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Titlu de secțiune (### e și mai mic)</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**important**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important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*accent*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accent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 element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Listă cu puncte</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1. element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Listă numerotată</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`git status`</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Cod în interiorul frazei, cu font monospațiat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7"/>
                  </a:ext>
                </a:extLst>
              </a:tr>
              <a:tr h="4139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&gt; citat</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Citat, cu o bară verticală în stânga</a:t>
                      </a:r>
                      <a:endParaRPr lang="en-US" sz="1400" dirty="0">
                        <a:latin typeface="IBM Plex Sans" charset="0"/>
                        <a:ea typeface="IBM Plex Sans" charset="0"/>
                        <a:cs typeface="IBM Plex Sans" charset="0"/>
                      </a:endParaRPr>
                    </a:p>
                  </a:txBody>
                  <a:tcPr marL="152400" marR="1524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MARKDOWN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Blocuri de cod și tabele</a:t>
            </a:r>
            <a:endParaRPr lang="en-US" sz="3200" dirty="0"/>
          </a:p>
        </p:txBody>
      </p:sp>
      <p:sp>
        <p:nvSpPr>
          <p:cNvPr id="4" name="Text 2"/>
          <p:cNvSpPr/>
          <p:nvPr/>
        </p:nvSpPr>
        <p:spPr>
          <a:xfrm>
            <a:off x="812800" y="1879501"/>
            <a:ext cx="533704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Bloc de cod, cu limbajul precizat</a:t>
            </a:r>
            <a:endParaRPr lang="en-US" sz="1600" dirty="0"/>
          </a:p>
        </p:txBody>
      </p:sp>
      <p:sp>
        <p:nvSpPr>
          <p:cNvPr id="5" name="Text 3"/>
          <p:cNvSpPr/>
          <p:nvPr/>
        </p:nvSpPr>
        <p:spPr>
          <a:xfrm>
            <a:off x="812800" y="2250281"/>
            <a:ext cx="5181600" cy="1645841"/>
          </a:xfrm>
          <a:prstGeom prst="roundRect">
            <a:avLst>
              <a:gd name="adj" fmla="val 6173"/>
            </a:avLst>
          </a:prstGeom>
          <a:solidFill>
            <a:srgbClr val="17202B"/>
          </a:solidFill>
          <a:ln/>
        </p:spPr>
        <p:txBody>
          <a:bodyPr wrap="square" lIns="224242" tIns="224242" rIns="84034" bIns="198842" rtlCol="0" anchor="t">
            <a:normAutofit/>
          </a:bodyPr>
          <a:lstStyle/>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```python</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def salut(nume):</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print("Salut, " + nume)</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p:txBody>
      </p:sp>
      <p:sp>
        <p:nvSpPr>
          <p:cNvPr id="6" name="Text 4"/>
          <p:cNvSpPr/>
          <p:nvPr/>
        </p:nvSpPr>
        <p:spPr>
          <a:xfrm>
            <a:off x="812800" y="4023122"/>
            <a:ext cx="533704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Trei accente grave deschid și închid blocul. Cuvântul de după ele colorează sintaxa.</a:t>
            </a:r>
            <a:endParaRPr lang="en-US" sz="1400" dirty="0"/>
          </a:p>
        </p:txBody>
      </p:sp>
      <p:sp>
        <p:nvSpPr>
          <p:cNvPr id="7" name="Text 5"/>
          <p:cNvSpPr/>
          <p:nvPr/>
        </p:nvSpPr>
        <p:spPr>
          <a:xfrm>
            <a:off x="6197600" y="1879501"/>
            <a:ext cx="533704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Tabel</a:t>
            </a:r>
            <a:endParaRPr lang="en-US" sz="1600" dirty="0"/>
          </a:p>
        </p:txBody>
      </p:sp>
      <p:sp>
        <p:nvSpPr>
          <p:cNvPr id="8" name="Text 6"/>
          <p:cNvSpPr/>
          <p:nvPr/>
        </p:nvSpPr>
        <p:spPr>
          <a:xfrm>
            <a:off x="6197600" y="2250281"/>
            <a:ext cx="5181600" cy="1645841"/>
          </a:xfrm>
          <a:prstGeom prst="roundRect">
            <a:avLst>
              <a:gd name="adj" fmla="val 6173"/>
            </a:avLst>
          </a:prstGeom>
          <a:solidFill>
            <a:srgbClr val="17202B"/>
          </a:solidFill>
          <a:ln/>
        </p:spPr>
        <p:txBody>
          <a:bodyPr wrap="square" lIns="224242" tIns="224242" rIns="84034" bIns="198842" rtlCol="0" anchor="t">
            <a:normAutofit/>
          </a:bodyPr>
          <a:lstStyle/>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Student | Notă |</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Ana    | 10   |</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Mihai   | 9    |</a:t>
            </a:r>
            <a:endParaRPr lang="en-US" sz="1400" dirty="0"/>
          </a:p>
        </p:txBody>
      </p:sp>
      <p:sp>
        <p:nvSpPr>
          <p:cNvPr id="9" name="Text 7"/>
          <p:cNvSpPr/>
          <p:nvPr/>
        </p:nvSpPr>
        <p:spPr>
          <a:xfrm>
            <a:off x="6197600" y="4023122"/>
            <a:ext cx="533704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Bara verticală separă coloanele. Rândul cu liniuțe desparte capul de tabel de date.</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MARKDOWN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Linkuri, imagini, sarcini și mențiuni</a:t>
            </a:r>
            <a:endParaRPr lang="en-US" sz="3200" dirty="0"/>
          </a:p>
        </p:txBody>
      </p:sp>
      <p:sp>
        <p:nvSpPr>
          <p:cNvPr id="4" name="Shape 2"/>
          <p:cNvSpPr/>
          <p:nvPr/>
        </p:nvSpPr>
        <p:spPr>
          <a:xfrm>
            <a:off x="815975" y="1882676"/>
            <a:ext cx="5175250" cy="1707852"/>
          </a:xfrm>
          <a:prstGeom prst="roundRect">
            <a:avLst>
              <a:gd name="adj" fmla="val 5763"/>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073150" y="21398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Link</a:t>
            </a:r>
            <a:endParaRPr lang="en-US" sz="1600" dirty="0"/>
          </a:p>
        </p:txBody>
      </p:sp>
      <p:sp>
        <p:nvSpPr>
          <p:cNvPr id="6" name="Text 4"/>
          <p:cNvSpPr/>
          <p:nvPr/>
        </p:nvSpPr>
        <p:spPr>
          <a:xfrm>
            <a:off x="1073150" y="24852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[ghidul de instalare](docs/instalare.md)</a:t>
            </a:r>
            <a:endParaRPr lang="en-US" sz="1400" dirty="0"/>
          </a:p>
        </p:txBody>
      </p:sp>
      <p:sp>
        <p:nvSpPr>
          <p:cNvPr id="7" name="Text 5"/>
          <p:cNvSpPr/>
          <p:nvPr/>
        </p:nvSpPr>
        <p:spPr>
          <a:xfrm>
            <a:off x="1073150" y="2835672"/>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Textul dintre paranteze drepte e cel pe care dai clic.</a:t>
            </a:r>
            <a:endParaRPr lang="en-US" sz="1400" dirty="0"/>
          </a:p>
        </p:txBody>
      </p:sp>
      <p:sp>
        <p:nvSpPr>
          <p:cNvPr id="8" name="Shape 6"/>
          <p:cNvSpPr/>
          <p:nvPr/>
        </p:nvSpPr>
        <p:spPr>
          <a:xfrm>
            <a:off x="6200775" y="1882676"/>
            <a:ext cx="5175250" cy="1707852"/>
          </a:xfrm>
          <a:prstGeom prst="roundRect">
            <a:avLst>
              <a:gd name="adj" fmla="val 5763"/>
            </a:avLst>
          </a:prstGeom>
          <a:solidFill>
            <a:srgbClr val="FCFBF8"/>
          </a:solidFill>
          <a:ln w="6350">
            <a:solidFill>
              <a:srgbClr val="DDD8CE"/>
            </a:solidFill>
            <a:prstDash val="solid"/>
          </a:ln>
        </p:spPr>
        <p:txBody>
          <a:bodyPr/>
          <a:lstStyle/>
          <a:p>
            <a:endParaRPr lang="en-US"/>
          </a:p>
        </p:txBody>
      </p:sp>
      <p:sp>
        <p:nvSpPr>
          <p:cNvPr id="9" name="Text 7"/>
          <p:cNvSpPr/>
          <p:nvPr/>
        </p:nvSpPr>
        <p:spPr>
          <a:xfrm>
            <a:off x="6457950" y="21398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Imagine</a:t>
            </a:r>
            <a:endParaRPr lang="en-US" sz="1600" dirty="0"/>
          </a:p>
        </p:txBody>
      </p:sp>
      <p:sp>
        <p:nvSpPr>
          <p:cNvPr id="10" name="Text 8"/>
          <p:cNvSpPr/>
          <p:nvPr/>
        </p:nvSpPr>
        <p:spPr>
          <a:xfrm>
            <a:off x="6457950" y="24852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501E"/>
                </a:solidFill>
                <a:latin typeface="JetBrains Mono" pitchFamily="49" charset="0"/>
                <a:ea typeface="JetBrains Mono" pitchFamily="49" charset="-122"/>
                <a:cs typeface="JetBrains Mono" pitchFamily="49" charset="-120"/>
              </a:rPr>
              <a:t>![Ecranul principal](captura.png)</a:t>
            </a:r>
            <a:endParaRPr lang="en-US" sz="1400" dirty="0"/>
          </a:p>
        </p:txBody>
      </p:sp>
      <p:sp>
        <p:nvSpPr>
          <p:cNvPr id="11" name="Text 9"/>
          <p:cNvSpPr/>
          <p:nvPr/>
        </p:nvSpPr>
        <p:spPr>
          <a:xfrm>
            <a:off x="6457950" y="2835672"/>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Ca un link, cu semnul exclamării în față. Textul descrie imaginea.</a:t>
            </a:r>
            <a:endParaRPr lang="en-US" sz="1400" dirty="0"/>
          </a:p>
        </p:txBody>
      </p:sp>
      <p:sp>
        <p:nvSpPr>
          <p:cNvPr id="12" name="Shape 10"/>
          <p:cNvSpPr/>
          <p:nvPr/>
        </p:nvSpPr>
        <p:spPr>
          <a:xfrm>
            <a:off x="815975" y="3800078"/>
            <a:ext cx="5175250" cy="1743571"/>
          </a:xfrm>
          <a:prstGeom prst="roundRect">
            <a:avLst>
              <a:gd name="adj" fmla="val 5645"/>
            </a:avLst>
          </a:prstGeom>
          <a:solidFill>
            <a:srgbClr val="FCFBF8"/>
          </a:solidFill>
          <a:ln w="6350">
            <a:solidFill>
              <a:srgbClr val="DDD8CE"/>
            </a:solidFill>
            <a:prstDash val="solid"/>
          </a:ln>
        </p:spPr>
        <p:txBody>
          <a:bodyPr/>
          <a:lstStyle/>
          <a:p>
            <a:endParaRPr lang="en-US"/>
          </a:p>
        </p:txBody>
      </p:sp>
      <p:sp>
        <p:nvSpPr>
          <p:cNvPr id="13" name="Text 11"/>
          <p:cNvSpPr/>
          <p:nvPr/>
        </p:nvSpPr>
        <p:spPr>
          <a:xfrm>
            <a:off x="1073150" y="4057253"/>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Listă de sarcini</a:t>
            </a:r>
            <a:endParaRPr lang="en-US" sz="1600" dirty="0"/>
          </a:p>
        </p:txBody>
      </p:sp>
      <p:sp>
        <p:nvSpPr>
          <p:cNvPr id="14" name="Text 12"/>
          <p:cNvSpPr/>
          <p:nvPr/>
        </p:nvSpPr>
        <p:spPr>
          <a:xfrm>
            <a:off x="1073150" y="4402634"/>
            <a:ext cx="4800727"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B4501E"/>
                </a:solidFill>
                <a:latin typeface="JetBrains Mono" pitchFamily="49" charset="0"/>
                <a:ea typeface="JetBrains Mono" pitchFamily="49" charset="-122"/>
                <a:cs typeface="JetBrains Mono" pitchFamily="49" charset="-120"/>
              </a:rPr>
              <a:t>- [x] Pagina de login</a:t>
            </a:r>
            <a:endParaRPr lang="en-US" sz="1400" dirty="0"/>
          </a:p>
          <a:p>
            <a:pPr marL="0" indent="0" algn="l">
              <a:lnSpc>
                <a:spcPts val="2100"/>
              </a:lnSpc>
              <a:buNone/>
            </a:pPr>
            <a:r>
              <a:rPr lang="en-US" sz="1400" dirty="0">
                <a:solidFill>
                  <a:srgbClr val="B4501E"/>
                </a:solidFill>
                <a:latin typeface="JetBrains Mono" pitchFamily="49" charset="0"/>
                <a:ea typeface="JetBrains Mono" pitchFamily="49" charset="-122"/>
                <a:cs typeface="JetBrains Mono" pitchFamily="49" charset="-120"/>
              </a:rPr>
              <a:t>- [ ] Testele automate</a:t>
            </a:r>
            <a:endParaRPr lang="en-US" sz="1400" dirty="0"/>
          </a:p>
        </p:txBody>
      </p:sp>
      <p:sp>
        <p:nvSpPr>
          <p:cNvPr id="15" name="Text 13"/>
          <p:cNvSpPr/>
          <p:nvPr/>
        </p:nvSpPr>
        <p:spPr>
          <a:xfrm>
            <a:off x="1073150" y="5037634"/>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Devine o listă de bife pe care echipa le poate marca.</a:t>
            </a:r>
            <a:endParaRPr lang="en-US" sz="1400" dirty="0"/>
          </a:p>
        </p:txBody>
      </p:sp>
      <p:sp>
        <p:nvSpPr>
          <p:cNvPr id="16" name="Shape 14"/>
          <p:cNvSpPr/>
          <p:nvPr/>
        </p:nvSpPr>
        <p:spPr>
          <a:xfrm>
            <a:off x="6200775" y="3800078"/>
            <a:ext cx="5175250" cy="1743571"/>
          </a:xfrm>
          <a:prstGeom prst="roundRect">
            <a:avLst>
              <a:gd name="adj" fmla="val 5645"/>
            </a:avLst>
          </a:prstGeom>
          <a:solidFill>
            <a:srgbClr val="FCFBF8"/>
          </a:solidFill>
          <a:ln w="6350">
            <a:solidFill>
              <a:srgbClr val="DDD8CE"/>
            </a:solidFill>
            <a:prstDash val="solid"/>
          </a:ln>
        </p:spPr>
        <p:txBody>
          <a:bodyPr/>
          <a:lstStyle/>
          <a:p>
            <a:endParaRPr lang="en-US"/>
          </a:p>
        </p:txBody>
      </p:sp>
      <p:sp>
        <p:nvSpPr>
          <p:cNvPr id="17" name="Text 15"/>
          <p:cNvSpPr/>
          <p:nvPr/>
        </p:nvSpPr>
        <p:spPr>
          <a:xfrm>
            <a:off x="6457950" y="4057253"/>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Mențiuni și referințe</a:t>
            </a:r>
            <a:endParaRPr lang="en-US" sz="1600" dirty="0"/>
          </a:p>
        </p:txBody>
      </p:sp>
      <p:sp>
        <p:nvSpPr>
          <p:cNvPr id="18" name="Text 16"/>
          <p:cNvSpPr/>
          <p:nvPr/>
        </p:nvSpPr>
        <p:spPr>
          <a:xfrm>
            <a:off x="6457950" y="4402634"/>
            <a:ext cx="4800727"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B4501E"/>
                </a:solidFill>
                <a:latin typeface="JetBrains Mono" pitchFamily="49" charset="0"/>
                <a:ea typeface="JetBrains Mono" pitchFamily="49" charset="-122"/>
                <a:cs typeface="JetBrains Mono" pitchFamily="49" charset="-120"/>
              </a:rPr>
              <a:t>@ana-pop, vezi #12</a:t>
            </a:r>
            <a:endParaRPr lang="en-US" sz="1400" dirty="0"/>
          </a:p>
        </p:txBody>
      </p:sp>
      <p:sp>
        <p:nvSpPr>
          <p:cNvPr id="19" name="Text 17"/>
          <p:cNvSpPr/>
          <p:nvPr/>
        </p:nvSpPr>
        <p:spPr>
          <a:xfrm>
            <a:off x="6457950" y="4770934"/>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 anunță un coleg; # urmat de număr trimite la un issue sau un PR.</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MARKDOWN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Greșeli frecvente și cum le eviți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253187"/>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464741">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Greșeala</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Varianta corectă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464741">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#Titlu, fără spațiu</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 Titlu, cu spațiu după diez</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64741">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Un singur Enter între paragrafe</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Un rând gol între paragrafe</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64741">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Lista lipită de textul de deasupra</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Un rând gol înaintea listei</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64741">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Cod sau erori lipite ca text obișnuit</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Bloc de cod între trei accente grave</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464741">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Linkuri „click aici”</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Text care spune unde duce linkul</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464741">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Jumătate din text îngroșat</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Îngroșat doar pentru avertismente</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43485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84F"/>
                </a:solidFill>
                <a:latin typeface="IBM Plex Sans" pitchFamily="34" charset="0"/>
                <a:ea typeface="IBM Plex Sans" pitchFamily="34" charset="-122"/>
                <a:cs typeface="IBM Plex Sans" pitchFamily="34" charset="-120"/>
              </a:rPr>
              <a:t>PARTEA 2 ·</a:t>
            </a:r>
            <a:endParaRPr lang="en-US" sz="1200" dirty="0"/>
          </a:p>
        </p:txBody>
      </p:sp>
      <p:sp>
        <p:nvSpPr>
          <p:cNvPr id="3" name="Text 1"/>
          <p:cNvSpPr>
            <a:spLocks noGrp="1"/>
          </p:cNvSpPr>
          <p:nvPr>
            <p:ph type="title"/>
          </p:nvPr>
        </p:nvSpPr>
        <p:spPr>
          <a:xfrm>
            <a:off x="812800" y="476508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README</a:t>
            </a:r>
            <a:endParaRPr lang="en-US" sz="5600" dirty="0"/>
          </a:p>
        </p:txBody>
      </p:sp>
      <p:sp>
        <p:nvSpPr>
          <p:cNvPr id="4" name="Text 2"/>
          <p:cNvSpPr/>
          <p:nvPr/>
        </p:nvSpPr>
        <p:spPr>
          <a:xfrm>
            <a:off x="812800" y="5715000"/>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Prima pagină pe care o citește oricine ajunge la proiectul tău</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README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Un README bun răspunde la șase întrebări, în ordine</a:t>
            </a:r>
            <a:endParaRPr lang="en-US" sz="3200" dirty="0"/>
          </a:p>
        </p:txBody>
      </p:sp>
      <p:sp>
        <p:nvSpPr>
          <p:cNvPr id="4" name="Shape 2"/>
          <p:cNvSpPr/>
          <p:nvPr/>
        </p:nvSpPr>
        <p:spPr>
          <a:xfrm>
            <a:off x="815975" y="1882676"/>
            <a:ext cx="5175250" cy="981670"/>
          </a:xfrm>
          <a:prstGeom prst="roundRect">
            <a:avLst>
              <a:gd name="adj" fmla="val 10026"/>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073150" y="2089051"/>
            <a:ext cx="406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01E"/>
                </a:solidFill>
                <a:latin typeface="IBM Plex Sans" pitchFamily="34" charset="0"/>
                <a:ea typeface="IBM Plex Sans" pitchFamily="34" charset="-122"/>
                <a:cs typeface="IBM Plex Sans" pitchFamily="34" charset="-120"/>
              </a:rPr>
              <a:t>1</a:t>
            </a:r>
            <a:endParaRPr lang="en-US" sz="3200" dirty="0"/>
          </a:p>
        </p:txBody>
      </p:sp>
      <p:sp>
        <p:nvSpPr>
          <p:cNvPr id="6" name="Text 4"/>
          <p:cNvSpPr/>
          <p:nvPr/>
        </p:nvSpPr>
        <p:spPr>
          <a:xfrm>
            <a:off x="1631950" y="2101751"/>
            <a:ext cx="237399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Ce este?</a:t>
            </a:r>
            <a:endParaRPr lang="en-US" sz="1600" dirty="0"/>
          </a:p>
        </p:txBody>
      </p:sp>
      <p:sp>
        <p:nvSpPr>
          <p:cNvPr id="7" name="Text 5"/>
          <p:cNvSpPr/>
          <p:nvPr/>
        </p:nvSpPr>
        <p:spPr>
          <a:xfrm>
            <a:off x="1631950" y="2396331"/>
            <a:ext cx="276582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Titlul și o frază de prezentare</a:t>
            </a:r>
            <a:endParaRPr lang="en-US" sz="1400" dirty="0"/>
          </a:p>
        </p:txBody>
      </p:sp>
      <p:sp>
        <p:nvSpPr>
          <p:cNvPr id="8" name="Shape 6"/>
          <p:cNvSpPr/>
          <p:nvPr/>
        </p:nvSpPr>
        <p:spPr>
          <a:xfrm>
            <a:off x="6200775" y="1882676"/>
            <a:ext cx="5175250" cy="981670"/>
          </a:xfrm>
          <a:prstGeom prst="roundRect">
            <a:avLst>
              <a:gd name="adj" fmla="val 10026"/>
            </a:avLst>
          </a:prstGeom>
          <a:solidFill>
            <a:srgbClr val="FCFBF8"/>
          </a:solidFill>
          <a:ln w="6350">
            <a:solidFill>
              <a:srgbClr val="DDD8CE"/>
            </a:solidFill>
            <a:prstDash val="solid"/>
          </a:ln>
        </p:spPr>
        <p:txBody>
          <a:bodyPr/>
          <a:lstStyle/>
          <a:p>
            <a:endParaRPr lang="en-US"/>
          </a:p>
        </p:txBody>
      </p:sp>
      <p:sp>
        <p:nvSpPr>
          <p:cNvPr id="9" name="Text 7"/>
          <p:cNvSpPr/>
          <p:nvPr/>
        </p:nvSpPr>
        <p:spPr>
          <a:xfrm>
            <a:off x="6457950" y="2089051"/>
            <a:ext cx="406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01E"/>
                </a:solidFill>
                <a:latin typeface="IBM Plex Sans" pitchFamily="34" charset="0"/>
                <a:ea typeface="IBM Plex Sans" pitchFamily="34" charset="-122"/>
                <a:cs typeface="IBM Plex Sans" pitchFamily="34" charset="-120"/>
              </a:rPr>
              <a:t>4</a:t>
            </a:r>
            <a:endParaRPr lang="en-US" sz="3200" dirty="0"/>
          </a:p>
        </p:txBody>
      </p:sp>
      <p:sp>
        <p:nvSpPr>
          <p:cNvPr id="10" name="Text 8"/>
          <p:cNvSpPr/>
          <p:nvPr/>
        </p:nvSpPr>
        <p:spPr>
          <a:xfrm>
            <a:off x="7016750" y="2101751"/>
            <a:ext cx="259739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Cum îl folosesc?</a:t>
            </a:r>
            <a:endParaRPr lang="en-US" sz="1600" dirty="0"/>
          </a:p>
        </p:txBody>
      </p:sp>
      <p:sp>
        <p:nvSpPr>
          <p:cNvPr id="11" name="Text 9"/>
          <p:cNvSpPr/>
          <p:nvPr/>
        </p:nvSpPr>
        <p:spPr>
          <a:xfrm>
            <a:off x="7016750" y="2396331"/>
            <a:ext cx="302609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Un exemplu concret de utilizare</a:t>
            </a:r>
            <a:endParaRPr lang="en-US" sz="1400" dirty="0"/>
          </a:p>
        </p:txBody>
      </p:sp>
      <p:sp>
        <p:nvSpPr>
          <p:cNvPr id="12" name="Shape 10"/>
          <p:cNvSpPr/>
          <p:nvPr/>
        </p:nvSpPr>
        <p:spPr>
          <a:xfrm>
            <a:off x="815975" y="3023096"/>
            <a:ext cx="5175250" cy="981670"/>
          </a:xfrm>
          <a:prstGeom prst="roundRect">
            <a:avLst>
              <a:gd name="adj" fmla="val 10026"/>
            </a:avLst>
          </a:prstGeom>
          <a:solidFill>
            <a:srgbClr val="FCFBF8"/>
          </a:solidFill>
          <a:ln w="6350">
            <a:solidFill>
              <a:srgbClr val="DDD8CE"/>
            </a:solidFill>
            <a:prstDash val="solid"/>
          </a:ln>
        </p:spPr>
        <p:txBody>
          <a:bodyPr/>
          <a:lstStyle/>
          <a:p>
            <a:endParaRPr lang="en-US"/>
          </a:p>
        </p:txBody>
      </p:sp>
      <p:sp>
        <p:nvSpPr>
          <p:cNvPr id="13" name="Text 11"/>
          <p:cNvSpPr/>
          <p:nvPr/>
        </p:nvSpPr>
        <p:spPr>
          <a:xfrm>
            <a:off x="1073150" y="3229471"/>
            <a:ext cx="406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01E"/>
                </a:solidFill>
                <a:latin typeface="IBM Plex Sans" pitchFamily="34" charset="0"/>
                <a:ea typeface="IBM Plex Sans" pitchFamily="34" charset="-122"/>
                <a:cs typeface="IBM Plex Sans" pitchFamily="34" charset="-120"/>
              </a:rPr>
              <a:t>2</a:t>
            </a:r>
            <a:endParaRPr lang="en-US" sz="3200" dirty="0"/>
          </a:p>
        </p:txBody>
      </p:sp>
      <p:sp>
        <p:nvSpPr>
          <p:cNvPr id="14" name="Text 12"/>
          <p:cNvSpPr/>
          <p:nvPr/>
        </p:nvSpPr>
        <p:spPr>
          <a:xfrm>
            <a:off x="1631950" y="3242171"/>
            <a:ext cx="22187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De ce există?</a:t>
            </a:r>
            <a:endParaRPr lang="en-US" sz="1600" dirty="0"/>
          </a:p>
        </p:txBody>
      </p:sp>
      <p:sp>
        <p:nvSpPr>
          <p:cNvPr id="15" name="Text 13"/>
          <p:cNvSpPr/>
          <p:nvPr/>
        </p:nvSpPr>
        <p:spPr>
          <a:xfrm>
            <a:off x="1631950" y="3536752"/>
            <a:ext cx="258496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Problema pe care o rezolvă</a:t>
            </a:r>
            <a:endParaRPr lang="en-US" sz="1400" dirty="0"/>
          </a:p>
        </p:txBody>
      </p:sp>
      <p:sp>
        <p:nvSpPr>
          <p:cNvPr id="16" name="Shape 14"/>
          <p:cNvSpPr/>
          <p:nvPr/>
        </p:nvSpPr>
        <p:spPr>
          <a:xfrm>
            <a:off x="6200775" y="3023096"/>
            <a:ext cx="5175250" cy="981670"/>
          </a:xfrm>
          <a:prstGeom prst="roundRect">
            <a:avLst>
              <a:gd name="adj" fmla="val 10026"/>
            </a:avLst>
          </a:prstGeom>
          <a:solidFill>
            <a:srgbClr val="FCFBF8"/>
          </a:solidFill>
          <a:ln w="6350">
            <a:solidFill>
              <a:srgbClr val="DDD8CE"/>
            </a:solidFill>
            <a:prstDash val="solid"/>
          </a:ln>
        </p:spPr>
        <p:txBody>
          <a:bodyPr/>
          <a:lstStyle/>
          <a:p>
            <a:endParaRPr lang="en-US"/>
          </a:p>
        </p:txBody>
      </p:sp>
      <p:sp>
        <p:nvSpPr>
          <p:cNvPr id="17" name="Text 15"/>
          <p:cNvSpPr/>
          <p:nvPr/>
        </p:nvSpPr>
        <p:spPr>
          <a:xfrm>
            <a:off x="6457950" y="3229471"/>
            <a:ext cx="406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01E"/>
                </a:solidFill>
                <a:latin typeface="IBM Plex Sans" pitchFamily="34" charset="0"/>
                <a:ea typeface="IBM Plex Sans" pitchFamily="34" charset="-122"/>
                <a:cs typeface="IBM Plex Sans" pitchFamily="34" charset="-120"/>
              </a:rPr>
              <a:t>5</a:t>
            </a:r>
            <a:endParaRPr lang="en-US" sz="3200" dirty="0"/>
          </a:p>
        </p:txBody>
      </p:sp>
      <p:sp>
        <p:nvSpPr>
          <p:cNvPr id="18" name="Text 16"/>
          <p:cNvSpPr/>
          <p:nvPr/>
        </p:nvSpPr>
        <p:spPr>
          <a:xfrm>
            <a:off x="7016750" y="3242171"/>
            <a:ext cx="21346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Cum pot ajuta?</a:t>
            </a:r>
            <a:endParaRPr lang="en-US" sz="1600" dirty="0"/>
          </a:p>
        </p:txBody>
      </p:sp>
      <p:sp>
        <p:nvSpPr>
          <p:cNvPr id="19" name="Text 17"/>
          <p:cNvSpPr/>
          <p:nvPr/>
        </p:nvSpPr>
        <p:spPr>
          <a:xfrm>
            <a:off x="7016750" y="3536752"/>
            <a:ext cx="248697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Regulile pentru contribuții</a:t>
            </a:r>
            <a:endParaRPr lang="en-US" sz="1400" dirty="0"/>
          </a:p>
        </p:txBody>
      </p:sp>
      <p:sp>
        <p:nvSpPr>
          <p:cNvPr id="20" name="Shape 18"/>
          <p:cNvSpPr/>
          <p:nvPr/>
        </p:nvSpPr>
        <p:spPr>
          <a:xfrm>
            <a:off x="815975" y="4163516"/>
            <a:ext cx="5175250" cy="981670"/>
          </a:xfrm>
          <a:prstGeom prst="roundRect">
            <a:avLst>
              <a:gd name="adj" fmla="val 10026"/>
            </a:avLst>
          </a:prstGeom>
          <a:solidFill>
            <a:srgbClr val="FCFBF8"/>
          </a:solidFill>
          <a:ln w="6350">
            <a:solidFill>
              <a:srgbClr val="DDD8CE"/>
            </a:solidFill>
            <a:prstDash val="solid"/>
          </a:ln>
        </p:spPr>
        <p:txBody>
          <a:bodyPr/>
          <a:lstStyle/>
          <a:p>
            <a:endParaRPr lang="en-US"/>
          </a:p>
        </p:txBody>
      </p:sp>
      <p:sp>
        <p:nvSpPr>
          <p:cNvPr id="21" name="Text 19"/>
          <p:cNvSpPr/>
          <p:nvPr/>
        </p:nvSpPr>
        <p:spPr>
          <a:xfrm>
            <a:off x="1073150" y="4369891"/>
            <a:ext cx="406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01E"/>
                </a:solidFill>
                <a:latin typeface="IBM Plex Sans" pitchFamily="34" charset="0"/>
                <a:ea typeface="IBM Plex Sans" pitchFamily="34" charset="-122"/>
                <a:cs typeface="IBM Plex Sans" pitchFamily="34" charset="-120"/>
              </a:rPr>
              <a:t>3</a:t>
            </a:r>
            <a:endParaRPr lang="en-US" sz="3200" dirty="0"/>
          </a:p>
        </p:txBody>
      </p:sp>
      <p:sp>
        <p:nvSpPr>
          <p:cNvPr id="22" name="Text 20"/>
          <p:cNvSpPr/>
          <p:nvPr/>
        </p:nvSpPr>
        <p:spPr>
          <a:xfrm>
            <a:off x="1631950" y="4382591"/>
            <a:ext cx="217553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Cum îl pornesc?</a:t>
            </a:r>
            <a:endParaRPr lang="en-US" sz="1600" dirty="0"/>
          </a:p>
        </p:txBody>
      </p:sp>
      <p:sp>
        <p:nvSpPr>
          <p:cNvPr id="23" name="Text 21"/>
          <p:cNvSpPr/>
          <p:nvPr/>
        </p:nvSpPr>
        <p:spPr>
          <a:xfrm>
            <a:off x="1631950" y="4677172"/>
            <a:ext cx="253460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Pașii de instalare, copiabili</a:t>
            </a:r>
            <a:endParaRPr lang="en-US" sz="1400" dirty="0"/>
          </a:p>
        </p:txBody>
      </p:sp>
      <p:sp>
        <p:nvSpPr>
          <p:cNvPr id="24" name="Shape 22"/>
          <p:cNvSpPr/>
          <p:nvPr/>
        </p:nvSpPr>
        <p:spPr>
          <a:xfrm>
            <a:off x="6200775" y="4163516"/>
            <a:ext cx="5175250" cy="981670"/>
          </a:xfrm>
          <a:prstGeom prst="roundRect">
            <a:avLst>
              <a:gd name="adj" fmla="val 10026"/>
            </a:avLst>
          </a:prstGeom>
          <a:solidFill>
            <a:srgbClr val="FCFBF8"/>
          </a:solidFill>
          <a:ln w="6350">
            <a:solidFill>
              <a:srgbClr val="DDD8CE"/>
            </a:solidFill>
            <a:prstDash val="solid"/>
          </a:ln>
        </p:spPr>
        <p:txBody>
          <a:bodyPr/>
          <a:lstStyle/>
          <a:p>
            <a:endParaRPr lang="en-US"/>
          </a:p>
        </p:txBody>
      </p:sp>
      <p:sp>
        <p:nvSpPr>
          <p:cNvPr id="25" name="Text 23"/>
          <p:cNvSpPr/>
          <p:nvPr/>
        </p:nvSpPr>
        <p:spPr>
          <a:xfrm>
            <a:off x="6457950" y="4369891"/>
            <a:ext cx="406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01E"/>
                </a:solidFill>
                <a:latin typeface="IBM Plex Sans" pitchFamily="34" charset="0"/>
                <a:ea typeface="IBM Plex Sans" pitchFamily="34" charset="-122"/>
                <a:cs typeface="IBM Plex Sans" pitchFamily="34" charset="-120"/>
              </a:rPr>
              <a:t>6</a:t>
            </a:r>
            <a:endParaRPr lang="en-US" sz="3200" dirty="0"/>
          </a:p>
        </p:txBody>
      </p:sp>
      <p:sp>
        <p:nvSpPr>
          <p:cNvPr id="26" name="Text 24"/>
          <p:cNvSpPr/>
          <p:nvPr/>
        </p:nvSpPr>
        <p:spPr>
          <a:xfrm>
            <a:off x="7016750" y="4382591"/>
            <a:ext cx="249121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Am voie să-l folosesc?</a:t>
            </a:r>
            <a:endParaRPr lang="en-US" sz="1600" dirty="0"/>
          </a:p>
        </p:txBody>
      </p:sp>
      <p:sp>
        <p:nvSpPr>
          <p:cNvPr id="27" name="Text 25"/>
          <p:cNvSpPr/>
          <p:nvPr/>
        </p:nvSpPr>
        <p:spPr>
          <a:xfrm>
            <a:off x="7016750" y="4677172"/>
            <a:ext cx="290238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Licența și persoana de contact</a:t>
            </a:r>
            <a:endParaRPr lang="en-US" sz="14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README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Un README slab lasă cititorul cu întrebări</a:t>
            </a:r>
            <a:endParaRPr lang="en-US" sz="3200" dirty="0"/>
          </a:p>
        </p:txBody>
      </p:sp>
      <p:sp>
        <p:nvSpPr>
          <p:cNvPr id="4" name="Text 2"/>
          <p:cNvSpPr/>
          <p:nvPr/>
        </p:nvSpPr>
        <p:spPr>
          <a:xfrm>
            <a:off x="812800" y="1879501"/>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README-UL PRIMIT</a:t>
            </a:r>
            <a:endParaRPr lang="en-US" sz="1200" dirty="0"/>
          </a:p>
        </p:txBody>
      </p:sp>
      <p:sp>
        <p:nvSpPr>
          <p:cNvPr id="5" name="Text 3"/>
          <p:cNvSpPr/>
          <p:nvPr/>
        </p:nvSpPr>
        <p:spPr>
          <a:xfrm>
            <a:off x="812800" y="2219821"/>
            <a:ext cx="5181600" cy="2501503"/>
          </a:xfrm>
          <a:prstGeom prst="roundRect">
            <a:avLst>
              <a:gd name="adj" fmla="val 4062"/>
            </a:avLst>
          </a:prstGeom>
          <a:solidFill>
            <a:srgbClr val="17202B"/>
          </a:solidFill>
          <a:ln/>
        </p:spPr>
        <p:txBody>
          <a:bodyPr wrap="square" lIns="224242" tIns="224242" rIns="84034" bIns="224242" rtlCol="0" anchor="t">
            <a:normAutofit/>
          </a:bodyPr>
          <a:lstStyle/>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 proiect_final_v2</a:t>
            </a:r>
            <a:endParaRPr lang="en-US" sz="1400" dirty="0"/>
          </a:p>
          <a:p>
            <a:pPr marL="0" indent="0" algn="l">
              <a:lnSpc>
                <a:spcPts val="2240"/>
              </a:lnSpc>
              <a:buNone/>
            </a:pP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proiect la PAW</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trebuie node</a:t>
            </a:r>
            <a:endParaRPr lang="en-US" sz="1400" dirty="0"/>
          </a:p>
          <a:p>
            <a:pPr marL="0" indent="0" algn="l">
              <a:lnSpc>
                <a:spcPts val="2240"/>
              </a:lnSpc>
              <a:buNone/>
            </a:pPr>
            <a:r>
              <a:rPr lang="en-US" sz="1400" dirty="0">
                <a:solidFill>
                  <a:srgbClr val="E6E1D6"/>
                </a:solidFill>
                <a:latin typeface="JetBrains Mono" pitchFamily="49" charset="0"/>
                <a:ea typeface="JetBrains Mono" pitchFamily="49" charset="-122"/>
                <a:cs typeface="JetBrains Mono" pitchFamily="49" charset="-120"/>
              </a:rPr>
              <a:t>rulati app.js</a:t>
            </a:r>
            <a:endParaRPr lang="en-US" sz="1400" dirty="0"/>
          </a:p>
        </p:txBody>
      </p:sp>
      <p:sp>
        <p:nvSpPr>
          <p:cNvPr id="6" name="Text 4"/>
          <p:cNvSpPr/>
          <p:nvPr/>
        </p:nvSpPr>
        <p:spPr>
          <a:xfrm>
            <a:off x="6197600" y="1879501"/>
            <a:ext cx="533704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CE SE ÎNTREABĂ CITITORUL</a:t>
            </a:r>
            <a:endParaRPr lang="en-US" sz="1200" dirty="0"/>
          </a:p>
        </p:txBody>
      </p:sp>
      <p:sp>
        <p:nvSpPr>
          <p:cNvPr id="7" name="Shape 5"/>
          <p:cNvSpPr/>
          <p:nvPr/>
        </p:nvSpPr>
        <p:spPr>
          <a:xfrm>
            <a:off x="6200775" y="2222996"/>
            <a:ext cx="5175250" cy="2495153"/>
          </a:xfrm>
          <a:prstGeom prst="roundRect">
            <a:avLst>
              <a:gd name="adj" fmla="val 3945"/>
            </a:avLst>
          </a:prstGeom>
          <a:solidFill>
            <a:srgbClr val="FCFBF8"/>
          </a:solidFill>
          <a:ln w="6350">
            <a:solidFill>
              <a:srgbClr val="DDD8CE"/>
            </a:solidFill>
            <a:prstDash val="solid"/>
          </a:ln>
        </p:spPr>
        <p:txBody>
          <a:bodyPr/>
          <a:lstStyle/>
          <a:p>
            <a:endParaRPr lang="en-US"/>
          </a:p>
        </p:txBody>
      </p:sp>
      <p:sp>
        <p:nvSpPr>
          <p:cNvPr id="8" name="Shape 6"/>
          <p:cNvSpPr/>
          <p:nvPr/>
        </p:nvSpPr>
        <p:spPr>
          <a:xfrm>
            <a:off x="6457950" y="2782987"/>
            <a:ext cx="4660900" cy="0"/>
          </a:xfrm>
          <a:prstGeom prst="line">
            <a:avLst/>
          </a:prstGeom>
          <a:noFill/>
          <a:ln w="6350">
            <a:solidFill>
              <a:srgbClr val="DDD8CE"/>
            </a:solidFill>
            <a:prstDash val="solid"/>
          </a:ln>
        </p:spPr>
        <p:txBody>
          <a:bodyPr/>
          <a:lstStyle/>
          <a:p>
            <a:endParaRPr lang="en-US"/>
          </a:p>
        </p:txBody>
      </p:sp>
      <p:sp>
        <p:nvSpPr>
          <p:cNvPr id="9" name="Text 7"/>
          <p:cNvSpPr/>
          <p:nvPr/>
        </p:nvSpPr>
        <p:spPr>
          <a:xfrm>
            <a:off x="6457950" y="242937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Ce face, de fapt, aplicația?</a:t>
            </a:r>
            <a:endParaRPr lang="en-US" sz="1400" dirty="0"/>
          </a:p>
        </p:txBody>
      </p:sp>
      <p:sp>
        <p:nvSpPr>
          <p:cNvPr id="10" name="Shape 8"/>
          <p:cNvSpPr/>
          <p:nvPr/>
        </p:nvSpPr>
        <p:spPr>
          <a:xfrm>
            <a:off x="6457950" y="3241377"/>
            <a:ext cx="4660900" cy="0"/>
          </a:xfrm>
          <a:prstGeom prst="line">
            <a:avLst/>
          </a:prstGeom>
          <a:noFill/>
          <a:ln w="6350">
            <a:solidFill>
              <a:srgbClr val="DDD8CE"/>
            </a:solidFill>
            <a:prstDash val="solid"/>
          </a:ln>
        </p:spPr>
        <p:txBody>
          <a:bodyPr/>
          <a:lstStyle/>
          <a:p>
            <a:endParaRPr lang="en-US"/>
          </a:p>
        </p:txBody>
      </p:sp>
      <p:sp>
        <p:nvSpPr>
          <p:cNvPr id="11" name="Text 9"/>
          <p:cNvSpPr/>
          <p:nvPr/>
        </p:nvSpPr>
        <p:spPr>
          <a:xfrm>
            <a:off x="6457950" y="2887762"/>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Ce versiune de Node îmi trebuie?</a:t>
            </a:r>
            <a:endParaRPr lang="en-US" sz="1400" dirty="0"/>
          </a:p>
        </p:txBody>
      </p:sp>
      <p:sp>
        <p:nvSpPr>
          <p:cNvPr id="12" name="Shape 10"/>
          <p:cNvSpPr/>
          <p:nvPr/>
        </p:nvSpPr>
        <p:spPr>
          <a:xfrm>
            <a:off x="6457950" y="3699768"/>
            <a:ext cx="4660900" cy="0"/>
          </a:xfrm>
          <a:prstGeom prst="line">
            <a:avLst/>
          </a:prstGeom>
          <a:noFill/>
          <a:ln w="6350">
            <a:solidFill>
              <a:srgbClr val="DDD8CE"/>
            </a:solidFill>
            <a:prstDash val="solid"/>
          </a:ln>
        </p:spPr>
        <p:txBody>
          <a:bodyPr/>
          <a:lstStyle/>
          <a:p>
            <a:endParaRPr lang="en-US"/>
          </a:p>
        </p:txBody>
      </p:sp>
      <p:sp>
        <p:nvSpPr>
          <p:cNvPr id="13" name="Text 11"/>
          <p:cNvSpPr/>
          <p:nvPr/>
        </p:nvSpPr>
        <p:spPr>
          <a:xfrm>
            <a:off x="6457950" y="3346152"/>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Cum instalez dependențele?</a:t>
            </a:r>
            <a:endParaRPr lang="en-US" sz="1400" dirty="0"/>
          </a:p>
        </p:txBody>
      </p:sp>
      <p:sp>
        <p:nvSpPr>
          <p:cNvPr id="14" name="Shape 12"/>
          <p:cNvSpPr/>
          <p:nvPr/>
        </p:nvSpPr>
        <p:spPr>
          <a:xfrm>
            <a:off x="6457950" y="4158159"/>
            <a:ext cx="4660900" cy="0"/>
          </a:xfrm>
          <a:prstGeom prst="line">
            <a:avLst/>
          </a:prstGeom>
          <a:noFill/>
          <a:ln w="6350">
            <a:solidFill>
              <a:srgbClr val="DDD8CE"/>
            </a:solidFill>
            <a:prstDash val="solid"/>
          </a:ln>
        </p:spPr>
        <p:txBody>
          <a:bodyPr/>
          <a:lstStyle/>
          <a:p>
            <a:endParaRPr lang="en-US"/>
          </a:p>
        </p:txBody>
      </p:sp>
      <p:sp>
        <p:nvSpPr>
          <p:cNvPr id="15" name="Text 13"/>
          <p:cNvSpPr/>
          <p:nvPr/>
        </p:nvSpPr>
        <p:spPr>
          <a:xfrm>
            <a:off x="6457950" y="3804543"/>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Cum arată când merge?</a:t>
            </a:r>
            <a:endParaRPr lang="en-US" sz="1400" dirty="0"/>
          </a:p>
        </p:txBody>
      </p:sp>
      <p:sp>
        <p:nvSpPr>
          <p:cNvPr id="16" name="Text 14"/>
          <p:cNvSpPr/>
          <p:nvPr/>
        </p:nvSpPr>
        <p:spPr>
          <a:xfrm>
            <a:off x="6457950" y="4262934"/>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Am voie să folosesc codul?</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README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Același proiect, cu un README bun</a:t>
            </a:r>
            <a:endParaRPr lang="en-US" sz="3200" dirty="0"/>
          </a:p>
        </p:txBody>
      </p:sp>
      <p:sp>
        <p:nvSpPr>
          <p:cNvPr id="4" name="Shape 2"/>
          <p:cNvSpPr/>
          <p:nvPr/>
        </p:nvSpPr>
        <p:spPr>
          <a:xfrm>
            <a:off x="812800" y="1879501"/>
            <a:ext cx="10566400" cy="3677146"/>
          </a:xfrm>
          <a:prstGeom prst="roundRect">
            <a:avLst>
              <a:gd name="adj" fmla="val 2763"/>
            </a:avLst>
          </a:prstGeom>
          <a:solidFill>
            <a:srgbClr val="17202B"/>
          </a:solidFill>
          <a:ln/>
        </p:spPr>
        <p:txBody>
          <a:bodyPr/>
          <a:lstStyle/>
          <a:p>
            <a:endParaRPr lang="en-US"/>
          </a:p>
        </p:txBody>
      </p:sp>
      <p:sp>
        <p:nvSpPr>
          <p:cNvPr id="5" name="Text 3"/>
          <p:cNvSpPr/>
          <p:nvPr/>
        </p:nvSpPr>
        <p:spPr>
          <a:xfrm>
            <a:off x="1117600" y="2133501"/>
            <a:ext cx="4967510" cy="3194546"/>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Orar Facultate</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Aplicație web care afișează orarul</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fiecărei grupe și anunță schimbările.</a:t>
            </a:r>
            <a:endParaRPr lang="en-US" sz="1200" dirty="0"/>
          </a:p>
          <a:p>
            <a:pPr marL="0" indent="0" algn="l">
              <a:lnSpc>
                <a:spcPts val="1920"/>
              </a:lnSpc>
              <a:buNone/>
            </a:pP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![Ecranul cu orarul](docs/captura.png)</a:t>
            </a:r>
            <a:endParaRPr lang="en-US" sz="1200" dirty="0"/>
          </a:p>
          <a:p>
            <a:pPr marL="0" indent="0" algn="l">
              <a:lnSpc>
                <a:spcPts val="1920"/>
              </a:lnSpc>
              <a:buNone/>
            </a:pPr>
            <a:endParaRPr lang="en-US" sz="1200" dirty="0"/>
          </a:p>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Instalare</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Necesită Node.js 20 sau mai nou.</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```bash</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git clone [adresa repository-ului]</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npm install</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npm start</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6" name="Shape 4"/>
          <p:cNvSpPr/>
          <p:nvPr/>
        </p:nvSpPr>
        <p:spPr>
          <a:xfrm>
            <a:off x="5943600" y="2133501"/>
            <a:ext cx="0" cy="3169146"/>
          </a:xfrm>
          <a:prstGeom prst="line">
            <a:avLst/>
          </a:prstGeom>
          <a:noFill/>
          <a:ln w="6350">
            <a:solidFill>
              <a:srgbClr val="3A4656"/>
            </a:solidFill>
            <a:prstDash val="solid"/>
          </a:ln>
        </p:spPr>
        <p:txBody>
          <a:bodyPr/>
          <a:lstStyle/>
          <a:p>
            <a:endParaRPr lang="en-US"/>
          </a:p>
        </p:txBody>
      </p:sp>
      <p:sp>
        <p:nvSpPr>
          <p:cNvPr id="7" name="Text 5"/>
          <p:cNvSpPr/>
          <p:nvPr/>
        </p:nvSpPr>
        <p:spPr>
          <a:xfrm>
            <a:off x="6251575" y="2133501"/>
            <a:ext cx="4967510" cy="3194546"/>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Utilizare</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Deschide http://localhost:3000</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și alege grupa din listă.</a:t>
            </a:r>
            <a:endParaRPr lang="en-US" sz="1200" dirty="0"/>
          </a:p>
          <a:p>
            <a:pPr marL="0" indent="0" algn="l">
              <a:lnSpc>
                <a:spcPts val="1920"/>
              </a:lnSpc>
              <a:buNone/>
            </a:pPr>
            <a:endParaRPr lang="en-US" sz="1200" dirty="0"/>
          </a:p>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Contribuții</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Problemele se raportează în Issues.</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Regulile sunt în CONTRIBUTING.md.</a:t>
            </a:r>
            <a:endParaRPr lang="en-US" sz="1200" dirty="0"/>
          </a:p>
          <a:p>
            <a:pPr marL="0" indent="0" algn="l">
              <a:lnSpc>
                <a:spcPts val="1920"/>
              </a:lnSpc>
              <a:buNone/>
            </a:pPr>
            <a:endParaRPr lang="en-US" sz="1200" dirty="0"/>
          </a:p>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Licență</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MIT. Autor: [nume], [email]</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README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Patru reguli pentru orice README</a:t>
            </a:r>
            <a:endParaRPr lang="en-US" sz="3200" dirty="0"/>
          </a:p>
        </p:txBody>
      </p:sp>
      <p:sp>
        <p:nvSpPr>
          <p:cNvPr id="4" name="Shape 2"/>
          <p:cNvSpPr/>
          <p:nvPr/>
        </p:nvSpPr>
        <p:spPr>
          <a:xfrm>
            <a:off x="815975" y="1882676"/>
            <a:ext cx="5175250"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073150" y="21398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Scrie pentru un străin</a:t>
            </a:r>
            <a:endParaRPr lang="en-US" sz="1600" dirty="0"/>
          </a:p>
        </p:txBody>
      </p:sp>
      <p:sp>
        <p:nvSpPr>
          <p:cNvPr id="6" name="Text 4"/>
          <p:cNvSpPr/>
          <p:nvPr/>
        </p:nvSpPr>
        <p:spPr>
          <a:xfrm>
            <a:off x="1073150" y="2485231"/>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Cititorul nu a fost la curs cu tine. Explică abrevierile și nu presupune nimic.</a:t>
            </a:r>
            <a:endParaRPr lang="en-US" sz="1400" dirty="0"/>
          </a:p>
        </p:txBody>
      </p:sp>
      <p:sp>
        <p:nvSpPr>
          <p:cNvPr id="7" name="Shape 5"/>
          <p:cNvSpPr/>
          <p:nvPr/>
        </p:nvSpPr>
        <p:spPr>
          <a:xfrm>
            <a:off x="6200775" y="1882676"/>
            <a:ext cx="5175250"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8" name="Text 6"/>
          <p:cNvSpPr/>
          <p:nvPr/>
        </p:nvSpPr>
        <p:spPr>
          <a:xfrm>
            <a:off x="6457950" y="21398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Arată, nu doar spune</a:t>
            </a:r>
            <a:endParaRPr lang="en-US" sz="1600" dirty="0"/>
          </a:p>
        </p:txBody>
      </p:sp>
      <p:sp>
        <p:nvSpPr>
          <p:cNvPr id="9" name="Text 7"/>
          <p:cNvSpPr/>
          <p:nvPr/>
        </p:nvSpPr>
        <p:spPr>
          <a:xfrm>
            <a:off x="6457950" y="2485231"/>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O captură de ecran sau un exemplu de rezultat valorează cât un paragraf.</a:t>
            </a:r>
            <a:endParaRPr lang="en-US" sz="1400" dirty="0"/>
          </a:p>
        </p:txBody>
      </p:sp>
      <p:sp>
        <p:nvSpPr>
          <p:cNvPr id="10" name="Shape 8"/>
          <p:cNvSpPr/>
          <p:nvPr/>
        </p:nvSpPr>
        <p:spPr>
          <a:xfrm>
            <a:off x="815975" y="3449638"/>
            <a:ext cx="5175250"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11" name="Text 9"/>
          <p:cNvSpPr/>
          <p:nvPr/>
        </p:nvSpPr>
        <p:spPr>
          <a:xfrm>
            <a:off x="1073150" y="3706813"/>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Testează instrucțiunile</a:t>
            </a:r>
            <a:endParaRPr lang="en-US" sz="1600" dirty="0"/>
          </a:p>
        </p:txBody>
      </p:sp>
      <p:sp>
        <p:nvSpPr>
          <p:cNvPr id="12" name="Text 10"/>
          <p:cNvSpPr/>
          <p:nvPr/>
        </p:nvSpPr>
        <p:spPr>
          <a:xfrm>
            <a:off x="1073150" y="4052193"/>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Dă README-ul unui coleg și urmărește-l cum instalează proiectul fără ajutorul tău.</a:t>
            </a:r>
            <a:endParaRPr lang="en-US" sz="1400" dirty="0"/>
          </a:p>
        </p:txBody>
      </p:sp>
      <p:sp>
        <p:nvSpPr>
          <p:cNvPr id="13" name="Shape 11"/>
          <p:cNvSpPr/>
          <p:nvPr/>
        </p:nvSpPr>
        <p:spPr>
          <a:xfrm>
            <a:off x="6200775" y="3449638"/>
            <a:ext cx="5175250"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14" name="Text 12"/>
          <p:cNvSpPr/>
          <p:nvPr/>
        </p:nvSpPr>
        <p:spPr>
          <a:xfrm>
            <a:off x="6457950" y="3706813"/>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Ține-l la zi</a:t>
            </a:r>
            <a:endParaRPr lang="en-US" sz="1600" dirty="0"/>
          </a:p>
        </p:txBody>
      </p:sp>
      <p:sp>
        <p:nvSpPr>
          <p:cNvPr id="15" name="Text 13"/>
          <p:cNvSpPr/>
          <p:nvPr/>
        </p:nvSpPr>
        <p:spPr>
          <a:xfrm>
            <a:off x="6457950" y="4052193"/>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Un README care descrie o versiune veche e mai rău decât niciunul.</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43485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84F"/>
                </a:solidFill>
                <a:latin typeface="IBM Plex Sans" pitchFamily="34" charset="0"/>
                <a:ea typeface="IBM Plex Sans" pitchFamily="34" charset="-122"/>
                <a:cs typeface="IBM Plex Sans" pitchFamily="34" charset="-120"/>
              </a:rPr>
              <a:t>PARTEA 3 ·</a:t>
            </a:r>
            <a:endParaRPr lang="en-US" sz="1200" dirty="0"/>
          </a:p>
        </p:txBody>
      </p:sp>
      <p:sp>
        <p:nvSpPr>
          <p:cNvPr id="3" name="Text 1"/>
          <p:cNvSpPr>
            <a:spLocks noGrp="1"/>
          </p:cNvSpPr>
          <p:nvPr>
            <p:ph type="title"/>
          </p:nvPr>
        </p:nvSpPr>
        <p:spPr>
          <a:xfrm>
            <a:off x="812800" y="476508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Mesajele de commit</a:t>
            </a:r>
            <a:endParaRPr lang="en-US" sz="5600" dirty="0"/>
          </a:p>
        </p:txBody>
      </p:sp>
      <p:sp>
        <p:nvSpPr>
          <p:cNvPr id="4" name="Text 2"/>
          <p:cNvSpPr/>
          <p:nvPr/>
        </p:nvSpPr>
        <p:spPr>
          <a:xfrm>
            <a:off x="812800" y="5715000"/>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Cel mai scurt text pe care îl scrii și cel mai des citit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MESAJE DE COMMIT</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Un titlu scurt, un rând gol, apoi motivul</a:t>
            </a:r>
            <a:endParaRPr lang="en-US" sz="3200" dirty="0"/>
          </a:p>
        </p:txBody>
      </p:sp>
      <p:sp>
        <p:nvSpPr>
          <p:cNvPr id="4" name="Text 2"/>
          <p:cNvSpPr/>
          <p:nvPr/>
        </p:nvSpPr>
        <p:spPr>
          <a:xfrm>
            <a:off x="812800" y="1879501"/>
            <a:ext cx="5484019" cy="2620963"/>
          </a:xfrm>
          <a:prstGeom prst="roundRect">
            <a:avLst>
              <a:gd name="adj" fmla="val 3876"/>
            </a:avLst>
          </a:prstGeom>
          <a:solidFill>
            <a:srgbClr val="17202B"/>
          </a:solidFill>
          <a:ln/>
        </p:spPr>
        <p:txBody>
          <a:bodyPr wrap="square" lIns="224242" tIns="224242" rIns="74962" bIns="198842" rtlCol="0" anchor="t">
            <a:normAutofit/>
          </a:bodyPr>
          <a:lstStyle/>
          <a:p>
            <a:pPr marL="0" indent="0" algn="l">
              <a:lnSpc>
                <a:spcPts val="2080"/>
              </a:lnSpc>
              <a:buNone/>
            </a:pPr>
            <a:r>
              <a:rPr lang="en-US" sz="1300" dirty="0">
                <a:solidFill>
                  <a:srgbClr val="F0884F"/>
                </a:solidFill>
                <a:latin typeface="JetBrains Mono" pitchFamily="49" charset="0"/>
                <a:ea typeface="JetBrains Mono" pitchFamily="49" charset="-122"/>
                <a:cs typeface="JetBrains Mono" pitchFamily="49" charset="-120"/>
              </a:rPr>
              <a:t>Adaugă validarea emailului la înregistrare</a:t>
            </a:r>
            <a:endParaRPr lang="en-US" sz="1300" dirty="0"/>
          </a:p>
          <a:p>
            <a:pPr marL="0" indent="0" algn="l">
              <a:lnSpc>
                <a:spcPts val="2080"/>
              </a:lnSpc>
              <a:buNone/>
            </a:pPr>
            <a:endParaRPr lang="en-US" sz="1300" dirty="0"/>
          </a:p>
          <a:p>
            <a:pPr marL="0" indent="0" algn="l">
              <a:lnSpc>
                <a:spcPts val="2080"/>
              </a:lnSpc>
              <a:buNone/>
            </a:pPr>
            <a:r>
              <a:rPr lang="en-US" sz="1300" dirty="0">
                <a:solidFill>
                  <a:srgbClr val="E6E1D6"/>
                </a:solidFill>
                <a:latin typeface="JetBrains Mono" pitchFamily="49" charset="0"/>
                <a:ea typeface="JetBrains Mono" pitchFamily="49" charset="-122"/>
                <a:cs typeface="JetBrains Mono" pitchFamily="49" charset="-120"/>
              </a:rPr>
              <a:t>Utilizatorii puteau crea conturi cu adrese</a:t>
            </a:r>
            <a:endParaRPr lang="en-US" sz="1300" dirty="0"/>
          </a:p>
          <a:p>
            <a:pPr marL="0" indent="0" algn="l">
              <a:lnSpc>
                <a:spcPts val="2080"/>
              </a:lnSpc>
              <a:buNone/>
            </a:pPr>
            <a:r>
              <a:rPr lang="en-US" sz="1300" dirty="0">
                <a:solidFill>
                  <a:srgbClr val="E6E1D6"/>
                </a:solidFill>
                <a:latin typeface="JetBrains Mono" pitchFamily="49" charset="0"/>
                <a:ea typeface="JetBrains Mono" pitchFamily="49" charset="-122"/>
                <a:cs typeface="JetBrains Mono" pitchFamily="49" charset="-120"/>
              </a:rPr>
              <a:t>invalide, iar emailul de confirmare nu</a:t>
            </a:r>
            <a:endParaRPr lang="en-US" sz="1300" dirty="0"/>
          </a:p>
          <a:p>
            <a:pPr marL="0" indent="0" algn="l">
              <a:lnSpc>
                <a:spcPts val="2080"/>
              </a:lnSpc>
              <a:buNone/>
            </a:pPr>
            <a:r>
              <a:rPr lang="en-US" sz="1300" dirty="0">
                <a:solidFill>
                  <a:srgbClr val="E6E1D6"/>
                </a:solidFill>
                <a:latin typeface="JetBrains Mono" pitchFamily="49" charset="0"/>
                <a:ea typeface="JetBrains Mono" pitchFamily="49" charset="-122"/>
                <a:cs typeface="JetBrains Mono" pitchFamily="49" charset="-120"/>
              </a:rPr>
              <a:t>ajungea. Acum formularul verifică</a:t>
            </a:r>
            <a:endParaRPr lang="en-US" sz="1300" dirty="0"/>
          </a:p>
          <a:p>
            <a:pPr marL="0" indent="0" algn="l">
              <a:lnSpc>
                <a:spcPts val="2080"/>
              </a:lnSpc>
              <a:buNone/>
            </a:pPr>
            <a:r>
              <a:rPr lang="en-US" sz="1300" dirty="0">
                <a:solidFill>
                  <a:srgbClr val="E6E1D6"/>
                </a:solidFill>
                <a:latin typeface="JetBrains Mono" pitchFamily="49" charset="0"/>
                <a:ea typeface="JetBrains Mono" pitchFamily="49" charset="-122"/>
                <a:cs typeface="JetBrains Mono" pitchFamily="49" charset="-120"/>
              </a:rPr>
              <a:t>formatul adresei înainte de trimitere.</a:t>
            </a:r>
            <a:endParaRPr lang="en-US" sz="1300" dirty="0"/>
          </a:p>
          <a:p>
            <a:pPr marL="0" indent="0" algn="l">
              <a:lnSpc>
                <a:spcPts val="2080"/>
              </a:lnSpc>
              <a:buNone/>
            </a:pPr>
            <a:endParaRPr lang="en-US" sz="1300" dirty="0"/>
          </a:p>
          <a:p>
            <a:pPr marL="0" indent="0" algn="l">
              <a:lnSpc>
                <a:spcPts val="2080"/>
              </a:lnSpc>
              <a:buNone/>
            </a:pPr>
            <a:r>
              <a:rPr lang="en-US" sz="1300" dirty="0">
                <a:solidFill>
                  <a:srgbClr val="E6E1D6"/>
                </a:solidFill>
                <a:latin typeface="JetBrains Mono" pitchFamily="49" charset="0"/>
                <a:ea typeface="JetBrains Mono" pitchFamily="49" charset="-122"/>
                <a:cs typeface="JetBrains Mono" pitchFamily="49" charset="-120"/>
              </a:rPr>
              <a:t>Rezolvă #42</a:t>
            </a:r>
            <a:endParaRPr lang="en-US" sz="1300" dirty="0"/>
          </a:p>
        </p:txBody>
      </p:sp>
      <p:sp>
        <p:nvSpPr>
          <p:cNvPr id="5" name="Text 3"/>
          <p:cNvSpPr/>
          <p:nvPr/>
        </p:nvSpPr>
        <p:spPr>
          <a:xfrm>
            <a:off x="6630392" y="1879501"/>
            <a:ext cx="4884515" cy="2646363"/>
          </a:xfrm>
          <a:prstGeom prst="rect">
            <a:avLst/>
          </a:prstGeom>
          <a:noFill/>
          <a:ln/>
        </p:spPr>
        <p:txBody>
          <a:bodyPr wrap="square" lIns="0" tIns="0" rIns="0" bIns="0" rtlCol="0" anchor="t">
            <a:normAutofit/>
          </a:bodyPr>
          <a:lstStyle/>
          <a:p>
            <a:pPr marL="225227" indent="-225227" algn="l">
              <a:lnSpc>
                <a:spcPts val="2240"/>
              </a:lnSpc>
              <a:buSzPct val="100000"/>
              <a:buFontTx/>
              <a:buAutoNum type="arabicPeriod"/>
            </a:pPr>
            <a:r>
              <a:rPr lang="en-US" sz="1600" dirty="0">
                <a:solidFill>
                  <a:srgbClr val="17202B"/>
                </a:solidFill>
                <a:latin typeface="IBM Plex Sans" pitchFamily="34" charset="0"/>
                <a:ea typeface="IBM Plex Sans" pitchFamily="34" charset="-122"/>
                <a:cs typeface="IBM Plex Sans" pitchFamily="34" charset="-120"/>
              </a:rPr>
              <a:t>Titlul are cel mult 50 de caractere.</a:t>
            </a:r>
            <a:endParaRPr lang="en-US" sz="1600" dirty="0"/>
          </a:p>
          <a:p>
            <a:pPr marL="225227" indent="-225227" algn="l">
              <a:lnSpc>
                <a:spcPts val="2240"/>
              </a:lnSpc>
              <a:buSzPct val="100000"/>
              <a:buFontTx/>
              <a:buAutoNum type="arabicPeriod"/>
            </a:pPr>
            <a:r>
              <a:rPr lang="en-US" sz="1600" dirty="0">
                <a:solidFill>
                  <a:srgbClr val="17202B"/>
                </a:solidFill>
                <a:latin typeface="IBM Plex Sans" pitchFamily="34" charset="0"/>
                <a:ea typeface="IBM Plex Sans" pitchFamily="34" charset="-122"/>
                <a:cs typeface="IBM Plex Sans" pitchFamily="34" charset="-120"/>
              </a:rPr>
              <a:t>Titlul începe cu un verb: „Adaugă”, „Repară”, „Elimină”.</a:t>
            </a:r>
            <a:endParaRPr lang="en-US" sz="1600" dirty="0"/>
          </a:p>
          <a:p>
            <a:pPr marL="225227" indent="-225227" algn="l">
              <a:lnSpc>
                <a:spcPts val="2240"/>
              </a:lnSpc>
              <a:buSzPct val="100000"/>
              <a:buFontTx/>
              <a:buAutoNum type="arabicPeriod"/>
            </a:pPr>
            <a:r>
              <a:rPr lang="en-US" sz="1600" dirty="0">
                <a:solidFill>
                  <a:srgbClr val="17202B"/>
                </a:solidFill>
                <a:latin typeface="IBM Plex Sans" pitchFamily="34" charset="0"/>
                <a:ea typeface="IBM Plex Sans" pitchFamily="34" charset="-122"/>
                <a:cs typeface="IBM Plex Sans" pitchFamily="34" charset="-120"/>
              </a:rPr>
              <a:t>Fără punct la finalul titlului.</a:t>
            </a:r>
            <a:endParaRPr lang="en-US" sz="1600" dirty="0"/>
          </a:p>
          <a:p>
            <a:pPr marL="225227" indent="-225227" algn="l">
              <a:lnSpc>
                <a:spcPts val="2240"/>
              </a:lnSpc>
              <a:buSzPct val="100000"/>
              <a:buFontTx/>
              <a:buAutoNum type="arabicPeriod"/>
            </a:pPr>
            <a:r>
              <a:rPr lang="en-US" sz="1600" dirty="0">
                <a:solidFill>
                  <a:srgbClr val="17202B"/>
                </a:solidFill>
                <a:latin typeface="IBM Plex Sans" pitchFamily="34" charset="0"/>
                <a:ea typeface="IBM Plex Sans" pitchFamily="34" charset="-122"/>
                <a:cs typeface="IBM Plex Sans" pitchFamily="34" charset="-120"/>
              </a:rPr>
              <a:t>Un rând gol între titlu și corp.</a:t>
            </a:r>
            <a:endParaRPr lang="en-US" sz="1600" dirty="0"/>
          </a:p>
          <a:p>
            <a:pPr marL="225227" indent="-225227" algn="l">
              <a:lnSpc>
                <a:spcPts val="2240"/>
              </a:lnSpc>
              <a:buSzPct val="100000"/>
              <a:buFontTx/>
              <a:buAutoNum type="arabicPeriod"/>
            </a:pPr>
            <a:r>
              <a:rPr lang="en-US" sz="1600" dirty="0">
                <a:solidFill>
                  <a:srgbClr val="17202B"/>
                </a:solidFill>
                <a:latin typeface="IBM Plex Sans" pitchFamily="34" charset="0"/>
                <a:ea typeface="IBM Plex Sans" pitchFamily="34" charset="-122"/>
                <a:cs typeface="IBM Plex Sans" pitchFamily="34" charset="-120"/>
              </a:rPr>
              <a:t>Corpul explică de ce, nu cum.</a:t>
            </a:r>
            <a:endParaRPr lang="en-US" sz="16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MESAJE DE COMMIT</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De la „fix” la un mesaj care spune ceva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286127"/>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464741">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Mesaj slab</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Mesaj bun</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46474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update</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Actualizează biblioteca de grafice la v4</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6474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fix</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Repară media când lipsește o notă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6474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asdf</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Adaugă exportul orarului în PDF</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6474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final final v3</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Pregătește versiunea 1.0 pentru predare</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962422">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am modificat login-ul si am sters ceva</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Două commit-uri separate:</a:t>
                      </a:r>
                      <a:endParaRPr lang="en-US" sz="1400" dirty="0">
                        <a:latin typeface="IBM Plex Sans" charset="0"/>
                        <a:ea typeface="IBM Plex Sans" charset="0"/>
                        <a:cs typeface="IBM Plex Sans" charset="0"/>
                      </a:endParaRPr>
                    </a:p>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Mută validarea în login.js</a:t>
                      </a:r>
                      <a:endParaRPr lang="en-US" sz="1400" dirty="0">
                        <a:latin typeface="IBM Plex Sans" charset="0"/>
                        <a:ea typeface="IBM Plex Sans" charset="0"/>
                        <a:cs typeface="IBM Plex Sans" charset="0"/>
                      </a:endParaRPr>
                    </a:p>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Elimină criptarea MD5 învechită</a:t>
                      </a:r>
                      <a:endParaRPr lang="en-US" sz="1400" dirty="0">
                        <a:latin typeface="IBM Plex Sans" charset="0"/>
                        <a:ea typeface="IBM Plex Sans" charset="0"/>
                        <a:cs typeface="IBM Plex Sans" charset="0"/>
                      </a:endParaRPr>
                    </a:p>
                  </a:txBody>
                  <a:tcPr marL="152400" marR="152400" marT="101600" marB="1016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MESAJE DE COMMIT</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Conventional Commits: o etichetă în fața titlului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075387"/>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39341">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Tip</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Când îl folosești</a:t>
                      </a:r>
                      <a:endParaRPr lang="en-US" sz="1400" dirty="0">
                        <a:latin typeface="IBM Plex Sans" charset="0"/>
                        <a:ea typeface="IBM Plex Sans" charset="0"/>
                        <a:cs typeface="IBM Plex Sans" charset="0"/>
                      </a:endParaRPr>
                    </a:p>
                  </a:txBody>
                  <a:tcPr marL="152400" marR="152400" marT="88900" marB="889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Exemplu</a:t>
                      </a:r>
                      <a:endParaRPr lang="en-US" sz="1400" dirty="0">
                        <a:latin typeface="IBM Plex Sans" charset="0"/>
                        <a:ea typeface="IBM Plex Sans" charset="0"/>
                        <a:cs typeface="IBM Plex Sans" charset="0"/>
                      </a:endParaRPr>
                    </a:p>
                  </a:txBody>
                  <a:tcPr marL="152400" marR="152400" marT="88900" marB="889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feat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O funcționalitate nouă</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feat: adaugă exportul în PDF</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fix</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Repararea unei erori</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fix: repară media fără note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docs</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Doar documentație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docs: completează instalarea</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refactor</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Rescriere fără efect vizibil</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refactor: împarte login.js</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test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Teste noi sau corectate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test: verifică emailul invalid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chore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Întreținere, configurări</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chore: actualizează dependențele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43485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84F"/>
                </a:solidFill>
                <a:latin typeface="IBM Plex Sans" pitchFamily="34" charset="0"/>
                <a:ea typeface="IBM Plex Sans" pitchFamily="34" charset="-122"/>
                <a:cs typeface="IBM Plex Sans" pitchFamily="34" charset="-120"/>
              </a:rPr>
              <a:t>PARTEA 4 ·</a:t>
            </a:r>
            <a:endParaRPr lang="ro-RO" sz="1200" b="1" kern="0" spc="150" dirty="0">
              <a:solidFill>
                <a:srgbClr val="F0884F"/>
              </a:solidFill>
              <a:latin typeface="IBM Plex Sans" pitchFamily="34" charset="0"/>
              <a:ea typeface="IBM Plex Sans" pitchFamily="34" charset="-122"/>
              <a:cs typeface="IBM Plex Sans" pitchFamily="34" charset="-120"/>
            </a:endParaRPr>
          </a:p>
        </p:txBody>
      </p:sp>
      <p:sp>
        <p:nvSpPr>
          <p:cNvPr id="3" name="Text 1"/>
          <p:cNvSpPr>
            <a:spLocks noGrp="1"/>
          </p:cNvSpPr>
          <p:nvPr>
            <p:ph type="title"/>
          </p:nvPr>
        </p:nvSpPr>
        <p:spPr>
          <a:xfrm>
            <a:off x="812800" y="476508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Issues</a:t>
            </a:r>
            <a:endParaRPr lang="en-US" sz="5600" dirty="0"/>
          </a:p>
        </p:txBody>
      </p:sp>
      <p:sp>
        <p:nvSpPr>
          <p:cNvPr id="4" name="Text 2"/>
          <p:cNvSpPr/>
          <p:nvPr/>
        </p:nvSpPr>
        <p:spPr>
          <a:xfrm>
            <a:off x="812800" y="5715000"/>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Cum raportezi o problemă astfel încât cineva să o poată rezolva</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ISSUES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Un raport de eroare bun are cinci părți</a:t>
            </a:r>
            <a:endParaRPr lang="en-US" sz="3200" dirty="0"/>
          </a:p>
        </p:txBody>
      </p:sp>
      <p:sp>
        <p:nvSpPr>
          <p:cNvPr id="4" name="Text 2"/>
          <p:cNvSpPr/>
          <p:nvPr/>
        </p:nvSpPr>
        <p:spPr>
          <a:xfrm>
            <a:off x="812800" y="1879501"/>
            <a:ext cx="468534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ISSUE SLAB</a:t>
            </a:r>
            <a:endParaRPr lang="en-US" sz="1200" dirty="0"/>
          </a:p>
        </p:txBody>
      </p:sp>
      <p:sp>
        <p:nvSpPr>
          <p:cNvPr id="5" name="Shape 3"/>
          <p:cNvSpPr/>
          <p:nvPr/>
        </p:nvSpPr>
        <p:spPr>
          <a:xfrm>
            <a:off x="815975" y="2222996"/>
            <a:ext cx="4542532" cy="1943001"/>
          </a:xfrm>
          <a:prstGeom prst="roundRect">
            <a:avLst>
              <a:gd name="adj" fmla="val 5066"/>
            </a:avLst>
          </a:prstGeom>
          <a:solidFill>
            <a:srgbClr val="FCFBF8"/>
          </a:solidFill>
          <a:ln w="6350">
            <a:solidFill>
              <a:srgbClr val="DDD8CE"/>
            </a:solidFill>
            <a:prstDash val="solid"/>
          </a:ln>
        </p:spPr>
        <p:txBody>
          <a:bodyPr/>
          <a:lstStyle/>
          <a:p>
            <a:endParaRPr lang="en-US"/>
          </a:p>
        </p:txBody>
      </p:sp>
      <p:sp>
        <p:nvSpPr>
          <p:cNvPr id="6" name="Text 4"/>
          <p:cNvSpPr/>
          <p:nvPr/>
        </p:nvSpPr>
        <p:spPr>
          <a:xfrm>
            <a:off x="1073150" y="2480171"/>
            <a:ext cx="41490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NU MERGE!!!</a:t>
            </a:r>
            <a:endParaRPr lang="en-US" sz="1600" dirty="0"/>
          </a:p>
        </p:txBody>
      </p:sp>
      <p:sp>
        <p:nvSpPr>
          <p:cNvPr id="7" name="Text 5"/>
          <p:cNvSpPr/>
          <p:nvPr/>
        </p:nvSpPr>
        <p:spPr>
          <a:xfrm>
            <a:off x="1073150" y="2876352"/>
            <a:ext cx="4149027"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0"/>
                </a:solidFill>
                <a:latin typeface="IBM Plex Sans" pitchFamily="34" charset="0"/>
                <a:ea typeface="IBM Plex Sans" pitchFamily="34" charset="-122"/>
                <a:cs typeface="IBM Plex Sans" pitchFamily="34" charset="-120"/>
              </a:rPr>
              <a:t>am incercat sa ma loghez si nu merge. reparati urgent va rog</a:t>
            </a:r>
            <a:endParaRPr lang="en-US" sz="1400" dirty="0"/>
          </a:p>
        </p:txBody>
      </p:sp>
      <p:sp>
        <p:nvSpPr>
          <p:cNvPr id="8" name="Shape 6"/>
          <p:cNvSpPr/>
          <p:nvPr/>
        </p:nvSpPr>
        <p:spPr>
          <a:xfrm>
            <a:off x="1073150" y="3565327"/>
            <a:ext cx="4028182" cy="0"/>
          </a:xfrm>
          <a:prstGeom prst="line">
            <a:avLst/>
          </a:prstGeom>
          <a:noFill/>
          <a:ln w="6350">
            <a:solidFill>
              <a:srgbClr val="DDD8CE"/>
            </a:solidFill>
            <a:prstDash val="solid"/>
          </a:ln>
        </p:spPr>
        <p:txBody>
          <a:bodyPr/>
          <a:lstStyle/>
          <a:p>
            <a:endParaRPr lang="en-US"/>
          </a:p>
        </p:txBody>
      </p:sp>
      <p:sp>
        <p:nvSpPr>
          <p:cNvPr id="9" name="Text 7"/>
          <p:cNvSpPr/>
          <p:nvPr/>
        </p:nvSpPr>
        <p:spPr>
          <a:xfrm>
            <a:off x="1073150" y="3695502"/>
            <a:ext cx="41490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Nu spune ce, unde, când sau pe ce dispozitiv.</a:t>
            </a:r>
            <a:endParaRPr lang="en-US" sz="1200" dirty="0"/>
          </a:p>
        </p:txBody>
      </p:sp>
      <p:sp>
        <p:nvSpPr>
          <p:cNvPr id="10" name="Text 8"/>
          <p:cNvSpPr/>
          <p:nvPr/>
        </p:nvSpPr>
        <p:spPr>
          <a:xfrm>
            <a:off x="5695255" y="1879501"/>
            <a:ext cx="5847706" cy="2315071"/>
          </a:xfrm>
          <a:prstGeom prst="rect">
            <a:avLst/>
          </a:prstGeom>
          <a:noFill/>
          <a:ln/>
        </p:spPr>
        <p:txBody>
          <a:bodyPr wrap="square" lIns="0" tIns="0" rIns="0" bIns="0" rtlCol="0" anchor="t">
            <a:normAutofit/>
          </a:bodyPr>
          <a:lstStyle/>
          <a:p>
            <a:pPr marL="225227" indent="-225227" algn="l">
              <a:lnSpc>
                <a:spcPts val="2160"/>
              </a:lnSpc>
              <a:buSzPct val="100000"/>
              <a:buFontTx/>
              <a:buAutoNum type="arabicPeriod"/>
            </a:pPr>
            <a:r>
              <a:rPr lang="en-US" sz="1600" b="1" dirty="0">
                <a:solidFill>
                  <a:srgbClr val="17202B"/>
                </a:solidFill>
                <a:latin typeface="IBM Plex Sans" pitchFamily="34" charset="0"/>
                <a:ea typeface="IBM Plex Sans" pitchFamily="34" charset="-122"/>
                <a:cs typeface="IBM Plex Sans" pitchFamily="34" charset="-120"/>
              </a:rPr>
              <a:t>Titlu specific:</a:t>
            </a:r>
            <a:r>
              <a:rPr lang="en-US" sz="1600" dirty="0">
                <a:solidFill>
                  <a:srgbClr val="17202B"/>
                </a:solidFill>
                <a:latin typeface="IBM Plex Sans" pitchFamily="34" charset="0"/>
                <a:ea typeface="IBM Plex Sans" pitchFamily="34" charset="-122"/>
                <a:cs typeface="IBM Plex Sans" pitchFamily="34" charset="-120"/>
              </a:rPr>
              <a:t> ce nu merge și unde</a:t>
            </a:r>
            <a:endParaRPr lang="en-US" sz="1600" dirty="0"/>
          </a:p>
          <a:p>
            <a:pPr marL="225227" indent="-225227" algn="l">
              <a:lnSpc>
                <a:spcPts val="2160"/>
              </a:lnSpc>
              <a:buSzPct val="100000"/>
              <a:buFontTx/>
              <a:buAutoNum type="arabicPeriod"/>
            </a:pPr>
            <a:r>
              <a:rPr lang="en-US" sz="1600" b="1" dirty="0">
                <a:solidFill>
                  <a:srgbClr val="17202B"/>
                </a:solidFill>
                <a:latin typeface="IBM Plex Sans" pitchFamily="34" charset="0"/>
                <a:ea typeface="IBM Plex Sans" pitchFamily="34" charset="-122"/>
                <a:cs typeface="IBM Plex Sans" pitchFamily="34" charset="-120"/>
              </a:rPr>
              <a:t>Pașii</a:t>
            </a:r>
            <a:r>
              <a:rPr lang="en-US" sz="1600" dirty="0">
                <a:solidFill>
                  <a:srgbClr val="17202B"/>
                </a:solidFill>
                <a:latin typeface="IBM Plex Sans" pitchFamily="34" charset="0"/>
                <a:ea typeface="IBM Plex Sans" pitchFamily="34" charset="-122"/>
                <a:cs typeface="IBM Plex Sans" pitchFamily="34" charset="-120"/>
              </a:rPr>
              <a:t> prin care se reproduce problema</a:t>
            </a:r>
            <a:endParaRPr lang="en-US" sz="1600" dirty="0"/>
          </a:p>
          <a:p>
            <a:pPr marL="225227" indent="-225227" algn="l">
              <a:lnSpc>
                <a:spcPts val="2160"/>
              </a:lnSpc>
              <a:buSzPct val="100000"/>
              <a:buFontTx/>
              <a:buAutoNum type="arabicPeriod"/>
            </a:pPr>
            <a:r>
              <a:rPr lang="en-US" sz="1600" b="1" dirty="0">
                <a:solidFill>
                  <a:srgbClr val="17202B"/>
                </a:solidFill>
                <a:latin typeface="IBM Plex Sans" pitchFamily="34" charset="0"/>
                <a:ea typeface="IBM Plex Sans" pitchFamily="34" charset="-122"/>
                <a:cs typeface="IBM Plex Sans" pitchFamily="34" charset="-120"/>
              </a:rPr>
              <a:t>Ce te așteptai</a:t>
            </a:r>
            <a:r>
              <a:rPr lang="en-US" sz="1600" dirty="0">
                <a:solidFill>
                  <a:srgbClr val="17202B"/>
                </a:solidFill>
                <a:latin typeface="IBM Plex Sans" pitchFamily="34" charset="0"/>
                <a:ea typeface="IBM Plex Sans" pitchFamily="34" charset="-122"/>
                <a:cs typeface="IBM Plex Sans" pitchFamily="34" charset="-120"/>
              </a:rPr>
              <a:t> să se întâmple</a:t>
            </a:r>
            <a:endParaRPr lang="en-US" sz="1600" dirty="0"/>
          </a:p>
          <a:p>
            <a:pPr marL="225227" indent="-225227" algn="l">
              <a:lnSpc>
                <a:spcPts val="2160"/>
              </a:lnSpc>
              <a:buSzPct val="100000"/>
              <a:buFontTx/>
              <a:buAutoNum type="arabicPeriod"/>
            </a:pPr>
            <a:r>
              <a:rPr lang="en-US" sz="1600" b="1" dirty="0">
                <a:solidFill>
                  <a:srgbClr val="17202B"/>
                </a:solidFill>
                <a:latin typeface="IBM Plex Sans" pitchFamily="34" charset="0"/>
                <a:ea typeface="IBM Plex Sans" pitchFamily="34" charset="-122"/>
                <a:cs typeface="IBM Plex Sans" pitchFamily="34" charset="-120"/>
              </a:rPr>
              <a:t>Ce s-a întâmplat</a:t>
            </a:r>
            <a:r>
              <a:rPr lang="en-US" sz="1600" dirty="0">
                <a:solidFill>
                  <a:srgbClr val="17202B"/>
                </a:solidFill>
                <a:latin typeface="IBM Plex Sans" pitchFamily="34" charset="0"/>
                <a:ea typeface="IBM Plex Sans" pitchFamily="34" charset="-122"/>
                <a:cs typeface="IBM Plex Sans" pitchFamily="34" charset="-120"/>
              </a:rPr>
              <a:t> de fapt, cu mesajul de eroare</a:t>
            </a:r>
            <a:endParaRPr lang="en-US" sz="1600" dirty="0"/>
          </a:p>
          <a:p>
            <a:pPr marL="225227" indent="-225227" algn="l">
              <a:lnSpc>
                <a:spcPts val="2160"/>
              </a:lnSpc>
              <a:buSzPct val="100000"/>
              <a:buFontTx/>
              <a:buAutoNum type="arabicPeriod"/>
            </a:pPr>
            <a:r>
              <a:rPr lang="en-US" sz="1600" b="1" dirty="0">
                <a:solidFill>
                  <a:srgbClr val="17202B"/>
                </a:solidFill>
                <a:latin typeface="IBM Plex Sans" pitchFamily="34" charset="0"/>
                <a:ea typeface="IBM Plex Sans" pitchFamily="34" charset="-122"/>
                <a:cs typeface="IBM Plex Sans" pitchFamily="34" charset="-120"/>
              </a:rPr>
              <a:t>Mediul:</a:t>
            </a:r>
            <a:r>
              <a:rPr lang="en-US" sz="1600" dirty="0">
                <a:solidFill>
                  <a:srgbClr val="17202B"/>
                </a:solidFill>
                <a:latin typeface="IBM Plex Sans" pitchFamily="34" charset="0"/>
                <a:ea typeface="IBM Plex Sans" pitchFamily="34" charset="-122"/>
                <a:cs typeface="IBM Plex Sans" pitchFamily="34" charset="-120"/>
              </a:rPr>
              <a:t> sistem, browser, versiunea aplicației</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2</a:t>
            </a:r>
            <a:r>
              <a:rPr lang="ro-RO" sz="1200" dirty="0">
                <a:solidFill>
                  <a:srgbClr val="5E6573"/>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ISSUES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Același issue, scris ca să poată fi rezolvat</a:t>
            </a:r>
            <a:endParaRPr lang="en-US" sz="3200" dirty="0"/>
          </a:p>
        </p:txBody>
      </p:sp>
      <p:sp>
        <p:nvSpPr>
          <p:cNvPr id="4" name="Shape 2"/>
          <p:cNvSpPr/>
          <p:nvPr/>
        </p:nvSpPr>
        <p:spPr>
          <a:xfrm>
            <a:off x="812800" y="1879501"/>
            <a:ext cx="10566400" cy="2756694"/>
          </a:xfrm>
          <a:prstGeom prst="roundRect">
            <a:avLst>
              <a:gd name="adj" fmla="val 3686"/>
            </a:avLst>
          </a:prstGeom>
          <a:solidFill>
            <a:srgbClr val="17202B"/>
          </a:solidFill>
          <a:ln/>
        </p:spPr>
        <p:txBody>
          <a:bodyPr/>
          <a:lstStyle/>
          <a:p>
            <a:endParaRPr lang="en-US"/>
          </a:p>
        </p:txBody>
      </p:sp>
      <p:sp>
        <p:nvSpPr>
          <p:cNvPr id="5" name="Shape 3"/>
          <p:cNvSpPr/>
          <p:nvPr/>
        </p:nvSpPr>
        <p:spPr>
          <a:xfrm>
            <a:off x="1117600" y="2520156"/>
            <a:ext cx="9956800" cy="0"/>
          </a:xfrm>
          <a:prstGeom prst="line">
            <a:avLst/>
          </a:prstGeom>
          <a:noFill/>
          <a:ln w="6350">
            <a:solidFill>
              <a:srgbClr val="3A4656"/>
            </a:solidFill>
            <a:prstDash val="solid"/>
          </a:ln>
        </p:spPr>
        <p:txBody>
          <a:bodyPr/>
          <a:lstStyle/>
          <a:p>
            <a:endParaRPr lang="en-US"/>
          </a:p>
        </p:txBody>
      </p:sp>
      <p:sp>
        <p:nvSpPr>
          <p:cNvPr id="6" name="Text 4"/>
          <p:cNvSpPr/>
          <p:nvPr/>
        </p:nvSpPr>
        <p:spPr>
          <a:xfrm>
            <a:off x="1117600" y="2133501"/>
            <a:ext cx="1025550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0884F"/>
                </a:solidFill>
                <a:latin typeface="JetBrains Mono" pitchFamily="49" charset="0"/>
                <a:ea typeface="JetBrains Mono" pitchFamily="49" charset="-122"/>
                <a:cs typeface="JetBrains Mono" pitchFamily="49" charset="-120"/>
              </a:rPr>
              <a:t>Login eșuează în Safari când parola conține diacritice</a:t>
            </a:r>
            <a:endParaRPr lang="en-US" sz="1300" dirty="0"/>
          </a:p>
        </p:txBody>
      </p:sp>
      <p:sp>
        <p:nvSpPr>
          <p:cNvPr id="7" name="Text 5"/>
          <p:cNvSpPr/>
          <p:nvPr/>
        </p:nvSpPr>
        <p:spPr>
          <a:xfrm>
            <a:off x="1117600" y="2675731"/>
            <a:ext cx="4810538" cy="1731863"/>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Pași</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1. Deschide /login în Safari 17</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2. Introdu o parolă care conține „ș”</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3. Apasă „Intră în cont”</a:t>
            </a:r>
            <a:endParaRPr lang="en-US" sz="1200" dirty="0"/>
          </a:p>
          <a:p>
            <a:pPr marL="0" indent="0" algn="l">
              <a:lnSpc>
                <a:spcPts val="1920"/>
              </a:lnSpc>
              <a:buNone/>
            </a:pPr>
            <a:endParaRPr lang="en-US" sz="1200" dirty="0"/>
          </a:p>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Rezultat așteptat</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Utilizatorul intră în cont.</a:t>
            </a:r>
            <a:endParaRPr lang="en-US" sz="1200" dirty="0"/>
          </a:p>
        </p:txBody>
      </p:sp>
      <p:sp>
        <p:nvSpPr>
          <p:cNvPr id="8" name="Shape 6"/>
          <p:cNvSpPr/>
          <p:nvPr/>
        </p:nvSpPr>
        <p:spPr>
          <a:xfrm>
            <a:off x="6096000" y="2675731"/>
            <a:ext cx="0" cy="1706463"/>
          </a:xfrm>
          <a:prstGeom prst="line">
            <a:avLst/>
          </a:prstGeom>
          <a:noFill/>
          <a:ln w="6350">
            <a:solidFill>
              <a:srgbClr val="3A4656"/>
            </a:solidFill>
            <a:prstDash val="solid"/>
          </a:ln>
        </p:spPr>
        <p:txBody>
          <a:bodyPr/>
          <a:lstStyle/>
          <a:p>
            <a:endParaRPr lang="en-US"/>
          </a:p>
        </p:txBody>
      </p:sp>
      <p:sp>
        <p:nvSpPr>
          <p:cNvPr id="9" name="Text 7"/>
          <p:cNvSpPr/>
          <p:nvPr/>
        </p:nvSpPr>
        <p:spPr>
          <a:xfrm>
            <a:off x="6403975" y="2675731"/>
            <a:ext cx="4810538" cy="1731863"/>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Rezultat obținut</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Apare „Parolă greșită”, deși</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parola e corectă. În Chrome merge.</a:t>
            </a:r>
            <a:endParaRPr lang="en-US" sz="1200" dirty="0"/>
          </a:p>
          <a:p>
            <a:pPr marL="0" indent="0" algn="l">
              <a:lnSpc>
                <a:spcPts val="1920"/>
              </a:lnSpc>
              <a:buNone/>
            </a:pPr>
            <a:endParaRPr lang="en-US" sz="1200" dirty="0"/>
          </a:p>
          <a:p>
            <a:pPr marL="0" indent="0" algn="l">
              <a:lnSpc>
                <a:spcPts val="1920"/>
              </a:lnSpc>
              <a:buNone/>
            </a:pPr>
            <a:r>
              <a:rPr lang="en-US" sz="1200" dirty="0">
                <a:solidFill>
                  <a:srgbClr val="F0884F"/>
                </a:solidFill>
                <a:latin typeface="JetBrains Mono" pitchFamily="49" charset="0"/>
                <a:ea typeface="JetBrains Mono" pitchFamily="49" charset="-122"/>
                <a:cs typeface="JetBrains Mono" pitchFamily="49" charset="-120"/>
              </a:rPr>
              <a:t>### Mediu</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macOS 14, Safari 17,</a:t>
            </a:r>
            <a:endParaRPr lang="en-US" sz="1200" dirty="0"/>
          </a:p>
          <a:p>
            <a:pPr marL="0" indent="0" algn="l">
              <a:lnSpc>
                <a:spcPts val="1920"/>
              </a:lnSpc>
              <a:buNone/>
            </a:pPr>
            <a:r>
              <a:rPr lang="en-US" sz="1200" dirty="0">
                <a:solidFill>
                  <a:srgbClr val="E6E1D6"/>
                </a:solidFill>
                <a:latin typeface="JetBrains Mono" pitchFamily="49" charset="0"/>
                <a:ea typeface="JetBrains Mono" pitchFamily="49" charset="-122"/>
                <a:cs typeface="JetBrains Mono" pitchFamily="49" charset="-120"/>
              </a:rPr>
              <a:t>aplicația versiunea 1.2.0</a:t>
            </a:r>
            <a:endParaRPr lang="en-US" sz="12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2</a:t>
            </a:r>
            <a:r>
              <a:rPr lang="ro-RO" sz="1200" dirty="0">
                <a:solidFill>
                  <a:srgbClr val="5E6573"/>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ISSUES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Cum ține o echipă ordinea în zeci de issues</a:t>
            </a:r>
            <a:endParaRPr lang="en-US" sz="3200" dirty="0"/>
          </a:p>
        </p:txBody>
      </p:sp>
      <p:sp>
        <p:nvSpPr>
          <p:cNvPr id="4" name="Shape 2"/>
          <p:cNvSpPr/>
          <p:nvPr/>
        </p:nvSpPr>
        <p:spPr>
          <a:xfrm>
            <a:off x="815975" y="1882676"/>
            <a:ext cx="5175250" cy="1108571"/>
          </a:xfrm>
          <a:prstGeom prst="roundRect">
            <a:avLst>
              <a:gd name="adj" fmla="val 8879"/>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073150" y="21398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Etichete (labels)</a:t>
            </a:r>
            <a:endParaRPr lang="en-US" sz="1600" dirty="0"/>
          </a:p>
        </p:txBody>
      </p:sp>
      <p:sp>
        <p:nvSpPr>
          <p:cNvPr id="6" name="Text 4"/>
          <p:cNvSpPr/>
          <p:nvPr/>
        </p:nvSpPr>
        <p:spPr>
          <a:xfrm>
            <a:off x="1073150" y="24852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Spun tipul: </a:t>
            </a:r>
            <a:r>
              <a:rPr lang="en-US" sz="1400" dirty="0">
                <a:solidFill>
                  <a:srgbClr val="B4501E"/>
                </a:solidFill>
                <a:latin typeface="IBM Plex Sans" pitchFamily="34" charset="0"/>
                <a:ea typeface="IBM Plex Sans" pitchFamily="34" charset="-122"/>
                <a:cs typeface="IBM Plex Sans" pitchFamily="34" charset="-120"/>
              </a:rPr>
              <a:t>bug</a:t>
            </a:r>
            <a:r>
              <a:rPr lang="en-US" sz="1400" dirty="0">
                <a:solidFill>
                  <a:srgbClr val="4A5260"/>
                </a:solidFill>
                <a:latin typeface="IBM Plex Sans" pitchFamily="34" charset="0"/>
                <a:ea typeface="IBM Plex Sans" pitchFamily="34" charset="-122"/>
                <a:cs typeface="IBM Plex Sans" pitchFamily="34" charset="-120"/>
              </a:rPr>
              <a:t>, </a:t>
            </a:r>
            <a:r>
              <a:rPr lang="en-US" sz="1400" dirty="0">
                <a:solidFill>
                  <a:srgbClr val="B4501E"/>
                </a:solidFill>
                <a:latin typeface="IBM Plex Sans" pitchFamily="34" charset="0"/>
                <a:ea typeface="IBM Plex Sans" pitchFamily="34" charset="-122"/>
                <a:cs typeface="IBM Plex Sans" pitchFamily="34" charset="-120"/>
              </a:rPr>
              <a:t>documentation</a:t>
            </a:r>
            <a:r>
              <a:rPr lang="en-US" sz="1400" dirty="0">
                <a:solidFill>
                  <a:srgbClr val="4A5260"/>
                </a:solidFill>
                <a:latin typeface="IBM Plex Sans" pitchFamily="34" charset="0"/>
                <a:ea typeface="IBM Plex Sans" pitchFamily="34" charset="-122"/>
                <a:cs typeface="IBM Plex Sans" pitchFamily="34" charset="-120"/>
              </a:rPr>
              <a:t>, </a:t>
            </a:r>
            <a:r>
              <a:rPr lang="en-US" sz="1400" dirty="0">
                <a:solidFill>
                  <a:srgbClr val="B4501E"/>
                </a:solidFill>
                <a:latin typeface="IBM Plex Sans" pitchFamily="34" charset="0"/>
                <a:ea typeface="IBM Plex Sans" pitchFamily="34" charset="-122"/>
                <a:cs typeface="IBM Plex Sans" pitchFamily="34" charset="-120"/>
              </a:rPr>
              <a:t>good first issue</a:t>
            </a:r>
            <a:r>
              <a:rPr lang="en-US" sz="1400" dirty="0">
                <a:solidFill>
                  <a:srgbClr val="4A5260"/>
                </a:solidFill>
                <a:latin typeface="IBM Plex Sans" pitchFamily="34" charset="0"/>
                <a:ea typeface="IBM Plex Sans" pitchFamily="34" charset="-122"/>
                <a:cs typeface="IBM Plex Sans" pitchFamily="34" charset="-120"/>
              </a:rPr>
              <a:t>.</a:t>
            </a:r>
            <a:endParaRPr lang="en-US" sz="1400" dirty="0"/>
          </a:p>
        </p:txBody>
      </p:sp>
      <p:sp>
        <p:nvSpPr>
          <p:cNvPr id="7" name="Shape 5"/>
          <p:cNvSpPr/>
          <p:nvPr/>
        </p:nvSpPr>
        <p:spPr>
          <a:xfrm>
            <a:off x="6200775" y="1882676"/>
            <a:ext cx="5175250" cy="1108571"/>
          </a:xfrm>
          <a:prstGeom prst="roundRect">
            <a:avLst>
              <a:gd name="adj" fmla="val 8879"/>
            </a:avLst>
          </a:prstGeom>
          <a:solidFill>
            <a:srgbClr val="FCFBF8"/>
          </a:solidFill>
          <a:ln w="6350">
            <a:solidFill>
              <a:srgbClr val="DDD8CE"/>
            </a:solidFill>
            <a:prstDash val="solid"/>
          </a:ln>
        </p:spPr>
        <p:txBody>
          <a:bodyPr/>
          <a:lstStyle/>
          <a:p>
            <a:endParaRPr lang="en-US"/>
          </a:p>
        </p:txBody>
      </p:sp>
      <p:sp>
        <p:nvSpPr>
          <p:cNvPr id="8" name="Text 6"/>
          <p:cNvSpPr/>
          <p:nvPr/>
        </p:nvSpPr>
        <p:spPr>
          <a:xfrm>
            <a:off x="6457950" y="21398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Responsabil (assignee)</a:t>
            </a:r>
            <a:endParaRPr lang="en-US" sz="1600" dirty="0"/>
          </a:p>
        </p:txBody>
      </p:sp>
      <p:sp>
        <p:nvSpPr>
          <p:cNvPr id="9" name="Text 7"/>
          <p:cNvSpPr/>
          <p:nvPr/>
        </p:nvSpPr>
        <p:spPr>
          <a:xfrm>
            <a:off x="6457950" y="2485231"/>
            <a:ext cx="49149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Fiecare issue are o singură persoană care se ocupă de el.</a:t>
            </a:r>
            <a:endParaRPr lang="en-US" sz="1400" dirty="0"/>
          </a:p>
        </p:txBody>
      </p:sp>
      <p:sp>
        <p:nvSpPr>
          <p:cNvPr id="10" name="Shape 8"/>
          <p:cNvSpPr/>
          <p:nvPr/>
        </p:nvSpPr>
        <p:spPr>
          <a:xfrm>
            <a:off x="815975" y="3200797"/>
            <a:ext cx="5175250"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11" name="Text 9"/>
          <p:cNvSpPr/>
          <p:nvPr/>
        </p:nvSpPr>
        <p:spPr>
          <a:xfrm>
            <a:off x="1073150" y="3457972"/>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Etape (milestones)</a:t>
            </a:r>
            <a:endParaRPr lang="en-US" sz="1600" dirty="0"/>
          </a:p>
        </p:txBody>
      </p:sp>
      <p:sp>
        <p:nvSpPr>
          <p:cNvPr id="12" name="Text 10"/>
          <p:cNvSpPr/>
          <p:nvPr/>
        </p:nvSpPr>
        <p:spPr>
          <a:xfrm>
            <a:off x="1073150" y="3803352"/>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Grupează issue-urile pe versiuni sau termene, de exemplu „Predare 15 ianuarie”.</a:t>
            </a:r>
            <a:endParaRPr lang="en-US" sz="1400" dirty="0"/>
          </a:p>
        </p:txBody>
      </p:sp>
      <p:sp>
        <p:nvSpPr>
          <p:cNvPr id="13" name="Shape 11"/>
          <p:cNvSpPr/>
          <p:nvPr/>
        </p:nvSpPr>
        <p:spPr>
          <a:xfrm>
            <a:off x="6200775" y="3200797"/>
            <a:ext cx="5175250" cy="1357412"/>
          </a:xfrm>
          <a:prstGeom prst="roundRect">
            <a:avLst>
              <a:gd name="adj" fmla="val 7251"/>
            </a:avLst>
          </a:prstGeom>
          <a:solidFill>
            <a:srgbClr val="FCFBF8"/>
          </a:solidFill>
          <a:ln w="6350">
            <a:solidFill>
              <a:srgbClr val="DDD8CE"/>
            </a:solidFill>
            <a:prstDash val="solid"/>
          </a:ln>
        </p:spPr>
        <p:txBody>
          <a:bodyPr/>
          <a:lstStyle/>
          <a:p>
            <a:endParaRPr lang="en-US"/>
          </a:p>
        </p:txBody>
      </p:sp>
      <p:sp>
        <p:nvSpPr>
          <p:cNvPr id="14" name="Text 12"/>
          <p:cNvSpPr/>
          <p:nvPr/>
        </p:nvSpPr>
        <p:spPr>
          <a:xfrm>
            <a:off x="6457950" y="3457972"/>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Închiderea</a:t>
            </a:r>
            <a:endParaRPr lang="en-US" sz="1600" dirty="0"/>
          </a:p>
        </p:txBody>
      </p:sp>
      <p:sp>
        <p:nvSpPr>
          <p:cNvPr id="15" name="Text 13"/>
          <p:cNvSpPr/>
          <p:nvPr/>
        </p:nvSpPr>
        <p:spPr>
          <a:xfrm>
            <a:off x="6457950" y="3803352"/>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Un comentariu final spune cum s-a rezolvat sau de ce nu se rezolvă.</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2</a:t>
            </a:r>
            <a:r>
              <a:rPr lang="ro-RO" sz="1200" dirty="0">
                <a:solidFill>
                  <a:srgbClr val="5E6573"/>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43485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84F"/>
                </a:solidFill>
                <a:latin typeface="IBM Plex Sans" pitchFamily="34" charset="0"/>
                <a:ea typeface="IBM Plex Sans" pitchFamily="34" charset="-122"/>
                <a:cs typeface="IBM Plex Sans" pitchFamily="34" charset="-120"/>
              </a:rPr>
              <a:t>PARTEA 5 ·</a:t>
            </a:r>
            <a:endParaRPr lang="en-US" sz="1200" dirty="0"/>
          </a:p>
        </p:txBody>
      </p:sp>
      <p:sp>
        <p:nvSpPr>
          <p:cNvPr id="3" name="Text 1"/>
          <p:cNvSpPr>
            <a:spLocks noGrp="1"/>
          </p:cNvSpPr>
          <p:nvPr>
            <p:ph type="title"/>
          </p:nvPr>
        </p:nvSpPr>
        <p:spPr>
          <a:xfrm>
            <a:off x="812800" y="476508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Pull requests și code review</a:t>
            </a:r>
            <a:endParaRPr lang="en-US" sz="5600" dirty="0"/>
          </a:p>
        </p:txBody>
      </p:sp>
      <p:sp>
        <p:nvSpPr>
          <p:cNvPr id="4" name="Text 2"/>
          <p:cNvSpPr/>
          <p:nvPr/>
        </p:nvSpPr>
        <p:spPr>
          <a:xfrm>
            <a:off x="812800" y="5715000"/>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Cum ceri o părere și cum dai una, în scris</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PULL REQUESTS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Descrierea unui PR: ce, de ce, cum verifici</a:t>
            </a:r>
            <a:endParaRPr lang="en-US" sz="3200" dirty="0"/>
          </a:p>
        </p:txBody>
      </p:sp>
      <p:sp>
        <p:nvSpPr>
          <p:cNvPr id="4" name="Text 2"/>
          <p:cNvSpPr/>
          <p:nvPr/>
        </p:nvSpPr>
        <p:spPr>
          <a:xfrm>
            <a:off x="812800" y="1879501"/>
            <a:ext cx="6020891" cy="2869406"/>
          </a:xfrm>
          <a:prstGeom prst="roundRect">
            <a:avLst>
              <a:gd name="adj" fmla="val 3541"/>
            </a:avLst>
          </a:prstGeom>
          <a:solidFill>
            <a:srgbClr val="17202B"/>
          </a:solidFill>
          <a:ln/>
        </p:spPr>
        <p:txBody>
          <a:bodyPr wrap="square" lIns="224242" tIns="224242" rIns="58856" bIns="198842" rtlCol="0" anchor="t">
            <a:normAutofit fontScale="85000" lnSpcReduction="10000"/>
          </a:bodyPr>
          <a:lstStyle/>
          <a:p>
            <a:pPr marL="0" indent="0" algn="l">
              <a:lnSpc>
                <a:spcPts val="1860"/>
              </a:lnSpc>
              <a:buNone/>
            </a:pPr>
            <a:r>
              <a:rPr lang="en-US" sz="1200" dirty="0">
                <a:solidFill>
                  <a:srgbClr val="F0884F"/>
                </a:solidFill>
                <a:latin typeface="JetBrains Mono" pitchFamily="49" charset="0"/>
                <a:ea typeface="JetBrains Mono" pitchFamily="49" charset="-122"/>
                <a:cs typeface="JetBrains Mono" pitchFamily="49" charset="-120"/>
              </a:rPr>
              <a:t>Adaugă exportul orarului în PDF</a:t>
            </a:r>
            <a:endParaRPr lang="en-US" sz="1200" dirty="0"/>
          </a:p>
          <a:p>
            <a:pPr marL="0" indent="0" algn="l">
              <a:lnSpc>
                <a:spcPts val="1860"/>
              </a:lnSpc>
              <a:buNone/>
            </a:pPr>
            <a:r>
              <a:rPr lang="en-US" sz="1200" dirty="0">
                <a:solidFill>
                  <a:srgbClr val="F0884F"/>
                </a:solidFill>
                <a:latin typeface="JetBrains Mono" pitchFamily="49" charset="0"/>
                <a:ea typeface="JetBrains Mono" pitchFamily="49" charset="-122"/>
                <a:cs typeface="JetBrains Mono" pitchFamily="49" charset="-120"/>
              </a:rPr>
              <a:t>## Ce face</a:t>
            </a:r>
            <a:endParaRPr lang="en-US" sz="1200" dirty="0"/>
          </a:p>
          <a:p>
            <a:pPr marL="0" indent="0" algn="l">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Adaugă butonul „Export PDF” pe pagina orarului.</a:t>
            </a:r>
            <a:endParaRPr lang="en-US" sz="1200" dirty="0"/>
          </a:p>
          <a:p>
            <a:pPr marL="0" indent="0" algn="l">
              <a:lnSpc>
                <a:spcPts val="1860"/>
              </a:lnSpc>
              <a:buNone/>
            </a:pPr>
            <a:r>
              <a:rPr lang="en-US" sz="1200" dirty="0">
                <a:solidFill>
                  <a:srgbClr val="F0884F"/>
                </a:solidFill>
                <a:latin typeface="JetBrains Mono" pitchFamily="49" charset="0"/>
                <a:ea typeface="JetBrains Mono" pitchFamily="49" charset="-122"/>
                <a:cs typeface="JetBrains Mono" pitchFamily="49" charset="-120"/>
              </a:rPr>
              <a:t>## De ce</a:t>
            </a:r>
            <a:endParaRPr lang="en-US" sz="1200" dirty="0"/>
          </a:p>
          <a:p>
            <a:pPr marL="0" indent="0" algn="l">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Studenții au cerut orarul tipărit (#57).</a:t>
            </a:r>
            <a:endParaRPr lang="en-US" sz="1200" dirty="0"/>
          </a:p>
          <a:p>
            <a:pPr marL="0" indent="0" algn="l">
              <a:lnSpc>
                <a:spcPts val="1860"/>
              </a:lnSpc>
              <a:buNone/>
            </a:pPr>
            <a:r>
              <a:rPr lang="en-US" sz="1200" dirty="0">
                <a:solidFill>
                  <a:srgbClr val="F0884F"/>
                </a:solidFill>
                <a:latin typeface="JetBrains Mono" pitchFamily="49" charset="0"/>
                <a:ea typeface="JetBrains Mono" pitchFamily="49" charset="-122"/>
                <a:cs typeface="JetBrains Mono" pitchFamily="49" charset="-120"/>
              </a:rPr>
              <a:t>## Cum se verifică</a:t>
            </a:r>
            <a:endParaRPr lang="en-US" sz="1200" dirty="0"/>
          </a:p>
          <a:p>
            <a:pPr marL="0" indent="0" algn="l">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1. Deschide /orar/grupa-311</a:t>
            </a:r>
            <a:endParaRPr lang="en-US" sz="1200" dirty="0"/>
          </a:p>
          <a:p>
            <a:pPr marL="0" indent="0" algn="l">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2. Apasă „Export PDF” și deschide fișierul</a:t>
            </a:r>
            <a:endParaRPr lang="en-US" sz="1200" dirty="0"/>
          </a:p>
          <a:p>
            <a:pPr marL="0" indent="0" algn="l">
              <a:lnSpc>
                <a:spcPts val="1860"/>
              </a:lnSpc>
              <a:buNone/>
            </a:pPr>
            <a:r>
              <a:rPr lang="en-US" sz="1200" dirty="0">
                <a:solidFill>
                  <a:srgbClr val="F0884F"/>
                </a:solidFill>
                <a:latin typeface="JetBrains Mono" pitchFamily="49" charset="0"/>
                <a:ea typeface="JetBrains Mono" pitchFamily="49" charset="-122"/>
                <a:cs typeface="JetBrains Mono" pitchFamily="49" charset="-120"/>
              </a:rPr>
              <a:t>## De verificat atent</a:t>
            </a:r>
            <a:endParaRPr lang="en-US" sz="1200" dirty="0"/>
          </a:p>
          <a:p>
            <a:pPr marL="0" indent="0" algn="l">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Nu sunt sigur că diacriticele apar corect.</a:t>
            </a:r>
            <a:endParaRPr lang="en-US" sz="1200" dirty="0"/>
          </a:p>
        </p:txBody>
      </p:sp>
      <p:sp>
        <p:nvSpPr>
          <p:cNvPr id="5" name="Shape 3"/>
          <p:cNvSpPr/>
          <p:nvPr/>
        </p:nvSpPr>
        <p:spPr>
          <a:xfrm>
            <a:off x="7138491" y="2578497"/>
            <a:ext cx="4240709" cy="0"/>
          </a:xfrm>
          <a:prstGeom prst="line">
            <a:avLst/>
          </a:prstGeom>
          <a:noFill/>
          <a:ln w="6350">
            <a:solidFill>
              <a:srgbClr val="DDD8CE"/>
            </a:solidFill>
            <a:prstDash val="solid"/>
          </a:ln>
        </p:spPr>
        <p:txBody>
          <a:bodyPr/>
          <a:lstStyle/>
          <a:p>
            <a:endParaRPr lang="en-US"/>
          </a:p>
        </p:txBody>
      </p:sp>
      <p:sp>
        <p:nvSpPr>
          <p:cNvPr id="6" name="Text 4"/>
          <p:cNvSpPr/>
          <p:nvPr/>
        </p:nvSpPr>
        <p:spPr>
          <a:xfrm>
            <a:off x="7138491" y="1879501"/>
            <a:ext cx="436793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Mic și concentrat</a:t>
            </a:r>
            <a:endParaRPr lang="en-US" sz="1600" dirty="0"/>
          </a:p>
        </p:txBody>
      </p:sp>
      <p:sp>
        <p:nvSpPr>
          <p:cNvPr id="7" name="Text 5"/>
          <p:cNvSpPr/>
          <p:nvPr/>
        </p:nvSpPr>
        <p:spPr>
          <a:xfrm>
            <a:off x="7138491" y="2174081"/>
            <a:ext cx="436793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Un PR rezolvă un singur lucru.</a:t>
            </a:r>
            <a:endParaRPr lang="en-US" sz="1400" dirty="0"/>
          </a:p>
        </p:txBody>
      </p:sp>
      <p:sp>
        <p:nvSpPr>
          <p:cNvPr id="8" name="Shape 6"/>
          <p:cNvSpPr/>
          <p:nvPr/>
        </p:nvSpPr>
        <p:spPr>
          <a:xfrm>
            <a:off x="7138491" y="3433068"/>
            <a:ext cx="4240709" cy="0"/>
          </a:xfrm>
          <a:prstGeom prst="line">
            <a:avLst/>
          </a:prstGeom>
          <a:noFill/>
          <a:ln w="6350">
            <a:solidFill>
              <a:srgbClr val="DDD8CE"/>
            </a:solidFill>
            <a:prstDash val="solid"/>
          </a:ln>
        </p:spPr>
        <p:txBody>
          <a:bodyPr/>
          <a:lstStyle/>
          <a:p>
            <a:endParaRPr lang="en-US"/>
          </a:p>
        </p:txBody>
      </p:sp>
      <p:sp>
        <p:nvSpPr>
          <p:cNvPr id="9" name="Text 7"/>
          <p:cNvSpPr/>
          <p:nvPr/>
        </p:nvSpPr>
        <p:spPr>
          <a:xfrm>
            <a:off x="7138491" y="2734072"/>
            <a:ext cx="436793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Legat de issue</a:t>
            </a:r>
            <a:endParaRPr lang="en-US" sz="1600" dirty="0"/>
          </a:p>
        </p:txBody>
      </p:sp>
      <p:sp>
        <p:nvSpPr>
          <p:cNvPr id="10" name="Text 8"/>
          <p:cNvSpPr/>
          <p:nvPr/>
        </p:nvSpPr>
        <p:spPr>
          <a:xfrm>
            <a:off x="7138491" y="3028652"/>
            <a:ext cx="436793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Cititorul vede discuția de la care a pornit.</a:t>
            </a:r>
            <a:endParaRPr lang="en-US" sz="1400" dirty="0"/>
          </a:p>
        </p:txBody>
      </p:sp>
      <p:sp>
        <p:nvSpPr>
          <p:cNvPr id="11" name="Text 9"/>
          <p:cNvSpPr/>
          <p:nvPr/>
        </p:nvSpPr>
        <p:spPr>
          <a:xfrm>
            <a:off x="7138491" y="3588643"/>
            <a:ext cx="436793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Cere ajutor explicit</a:t>
            </a:r>
            <a:endParaRPr lang="en-US" sz="1600" dirty="0"/>
          </a:p>
        </p:txBody>
      </p:sp>
      <p:sp>
        <p:nvSpPr>
          <p:cNvPr id="12" name="Text 10"/>
          <p:cNvSpPr/>
          <p:nvPr/>
        </p:nvSpPr>
        <p:spPr>
          <a:xfrm>
            <a:off x="7138491" y="3883223"/>
            <a:ext cx="436793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Spune unde ai dubii, ca să știe unde să se uite.</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CODE REVIEW</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Un comentariu util spune unde, ce și de 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573065"/>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515541">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Comentariu slab</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Comentariu util</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76438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„Greșit.”</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„Dacă lista e goală, funcția returnează null (rândul 42). Putem trata și cazul ăsta?”</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76438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„De ce ai făcut așa??”</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„Ce te-a făcut să alegi un for în loc de map? Întreb ca să înțeleg.”</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76438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„Nu-mi place numele.”</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„nit: aș redenumi x în numarStudenti, se citește mai ușor. Nu e blocant.”</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764381">
                <a:tc>
                  <a:txBody>
                    <a:bodyPr/>
                    <a:lstStyle/>
                    <a:p>
                      <a:pPr marL="0" indent="0">
                        <a:lnSpc>
                          <a:spcPts val="1960"/>
                        </a:lnSpc>
                        <a:buNone/>
                      </a:pPr>
                      <a:r>
                        <a:rPr lang="en-US" sz="1400" dirty="0">
                          <a:solidFill>
                            <a:srgbClr val="5E6573"/>
                          </a:solidFill>
                          <a:latin typeface="IBM Plex Sans" pitchFamily="34" charset="0"/>
                          <a:ea typeface="IBM Plex Sans" pitchFamily="34" charset="-122"/>
                          <a:cs typeface="IBM Plex Sans" pitchFamily="34" charset="-120"/>
                        </a:rPr>
                        <a:t>„LGTM” pe 800 de rânduri</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„Am verificat calculul mediilor. Interfața n-am testat-o, poate se uită altcineva.”</a:t>
                      </a:r>
                      <a:endParaRPr lang="en-US" sz="1400" dirty="0">
                        <a:latin typeface="IBM Plex Sans" charset="0"/>
                        <a:ea typeface="IBM Plex Sans" charset="0"/>
                        <a:cs typeface="IBM Plex Sans" charset="0"/>
                      </a:endParaRPr>
                    </a:p>
                  </a:txBody>
                  <a:tcPr marL="152400" marR="152400" marT="127000" marB="1270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CODE REVIEW</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În scris nu se aude tonul, așa că îl alegi cu grijă</a:t>
            </a:r>
            <a:endParaRPr lang="en-US" sz="3200" dirty="0"/>
          </a:p>
        </p:txBody>
      </p:sp>
      <p:sp>
        <p:nvSpPr>
          <p:cNvPr id="4" name="Shape 2"/>
          <p:cNvSpPr/>
          <p:nvPr/>
        </p:nvSpPr>
        <p:spPr>
          <a:xfrm>
            <a:off x="815975" y="1882676"/>
            <a:ext cx="5181600" cy="2154734"/>
          </a:xfrm>
          <a:prstGeom prst="roundRect">
            <a:avLst>
              <a:gd name="adj" fmla="val 4568"/>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123950" y="2139851"/>
            <a:ext cx="47026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E"/>
                </a:solidFill>
                <a:latin typeface="IBM Plex Sans" pitchFamily="34" charset="0"/>
                <a:ea typeface="IBM Plex Sans" pitchFamily="34" charset="-122"/>
                <a:cs typeface="IBM Plex Sans" pitchFamily="34" charset="-120"/>
              </a:rPr>
              <a:t>Când dai feedback</a:t>
            </a:r>
            <a:endParaRPr lang="en-US" sz="1600" dirty="0"/>
          </a:p>
        </p:txBody>
      </p:sp>
      <p:sp>
        <p:nvSpPr>
          <p:cNvPr id="6" name="Text 4"/>
          <p:cNvSpPr/>
          <p:nvPr/>
        </p:nvSpPr>
        <p:spPr>
          <a:xfrm>
            <a:off x="1202182" y="2536031"/>
            <a:ext cx="4616768" cy="126960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17202B"/>
                </a:solidFill>
                <a:latin typeface="IBM Plex Sans" pitchFamily="34" charset="0"/>
                <a:ea typeface="IBM Plex Sans" pitchFamily="34" charset="-122"/>
                <a:cs typeface="IBM Plex Sans" pitchFamily="34" charset="-120"/>
              </a:rPr>
              <a:t>Comentezi codul, nu persoana.</a:t>
            </a:r>
            <a:endParaRPr lang="en-US" sz="1400" dirty="0"/>
          </a:p>
          <a:p>
            <a:pPr marL="175768" indent="-175768" algn="l">
              <a:lnSpc>
                <a:spcPts val="1960"/>
              </a:lnSpc>
              <a:buSzPct val="100000"/>
              <a:buChar char="•"/>
            </a:pPr>
            <a:r>
              <a:rPr lang="en-US" sz="1400" dirty="0">
                <a:solidFill>
                  <a:srgbClr val="17202B"/>
                </a:solidFill>
                <a:latin typeface="IBM Plex Sans" pitchFamily="34" charset="0"/>
                <a:ea typeface="IBM Plex Sans" pitchFamily="34" charset="-122"/>
                <a:cs typeface="IBM Plex Sans" pitchFamily="34" charset="-120"/>
              </a:rPr>
              <a:t>Întrebi în loc să ordoni.</a:t>
            </a:r>
            <a:endParaRPr lang="en-US" sz="1400" dirty="0"/>
          </a:p>
          <a:p>
            <a:pPr marL="175768" indent="-175768" algn="l">
              <a:lnSpc>
                <a:spcPts val="1960"/>
              </a:lnSpc>
              <a:buSzPct val="100000"/>
              <a:buChar char="•"/>
            </a:pPr>
            <a:r>
              <a:rPr lang="en-US" sz="1400" dirty="0">
                <a:solidFill>
                  <a:srgbClr val="17202B"/>
                </a:solidFill>
                <a:latin typeface="IBM Plex Sans" pitchFamily="34" charset="0"/>
                <a:ea typeface="IBM Plex Sans" pitchFamily="34" charset="-122"/>
                <a:cs typeface="IBM Plex Sans" pitchFamily="34" charset="-120"/>
              </a:rPr>
              <a:t>Explici de ce propui schimbarea.</a:t>
            </a:r>
            <a:endParaRPr lang="en-US" sz="1400" dirty="0"/>
          </a:p>
          <a:p>
            <a:pPr marL="175768" indent="-175768" algn="l">
              <a:lnSpc>
                <a:spcPts val="1960"/>
              </a:lnSpc>
              <a:buSzPct val="100000"/>
              <a:buChar char="•"/>
            </a:pPr>
            <a:r>
              <a:rPr lang="en-US" sz="1400" dirty="0">
                <a:solidFill>
                  <a:srgbClr val="17202B"/>
                </a:solidFill>
                <a:latin typeface="IBM Plex Sans" pitchFamily="34" charset="0"/>
                <a:ea typeface="IBM Plex Sans" pitchFamily="34" charset="-122"/>
                <a:cs typeface="IBM Plex Sans" pitchFamily="34" charset="-120"/>
              </a:rPr>
              <a:t>Marchezi ce e opțional.</a:t>
            </a:r>
            <a:endParaRPr lang="en-US" sz="1400" dirty="0"/>
          </a:p>
          <a:p>
            <a:pPr marL="175768" indent="-175768" algn="l">
              <a:lnSpc>
                <a:spcPts val="1960"/>
              </a:lnSpc>
              <a:buSzPct val="100000"/>
              <a:buChar char="•"/>
            </a:pPr>
            <a:r>
              <a:rPr lang="en-US" sz="1400" dirty="0">
                <a:solidFill>
                  <a:srgbClr val="17202B"/>
                </a:solidFill>
                <a:latin typeface="IBM Plex Sans" pitchFamily="34" charset="0"/>
                <a:ea typeface="IBM Plex Sans" pitchFamily="34" charset="-122"/>
                <a:cs typeface="IBM Plex Sans" pitchFamily="34" charset="-120"/>
              </a:rPr>
              <a:t>Spui și ce e bine făcut.</a:t>
            </a:r>
            <a:endParaRPr lang="en-US" sz="1400" dirty="0"/>
          </a:p>
        </p:txBody>
      </p:sp>
      <p:sp>
        <p:nvSpPr>
          <p:cNvPr id="7" name="Shape 5"/>
          <p:cNvSpPr/>
          <p:nvPr/>
        </p:nvSpPr>
        <p:spPr>
          <a:xfrm>
            <a:off x="6203950" y="1879501"/>
            <a:ext cx="5175250" cy="2161084"/>
          </a:xfrm>
          <a:prstGeom prst="roundRect">
            <a:avLst>
              <a:gd name="adj" fmla="val 4701"/>
            </a:avLst>
          </a:prstGeom>
          <a:solidFill>
            <a:srgbClr val="17202B"/>
          </a:solidFill>
          <a:ln/>
        </p:spPr>
        <p:txBody>
          <a:bodyPr/>
          <a:lstStyle/>
          <a:p>
            <a:endParaRPr lang="en-US"/>
          </a:p>
        </p:txBody>
      </p:sp>
      <p:sp>
        <p:nvSpPr>
          <p:cNvPr id="8" name="Text 6"/>
          <p:cNvSpPr/>
          <p:nvPr/>
        </p:nvSpPr>
        <p:spPr>
          <a:xfrm>
            <a:off x="6508750" y="2133501"/>
            <a:ext cx="47026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884F"/>
                </a:solidFill>
                <a:latin typeface="IBM Plex Sans" pitchFamily="34" charset="0"/>
                <a:ea typeface="IBM Plex Sans" pitchFamily="34" charset="-122"/>
                <a:cs typeface="IBM Plex Sans" pitchFamily="34" charset="-120"/>
              </a:rPr>
              <a:t>Când primești feedback</a:t>
            </a:r>
            <a:endParaRPr lang="en-US" sz="1600" dirty="0"/>
          </a:p>
        </p:txBody>
      </p:sp>
      <p:sp>
        <p:nvSpPr>
          <p:cNvPr id="9" name="Text 7"/>
          <p:cNvSpPr/>
          <p:nvPr/>
        </p:nvSpPr>
        <p:spPr>
          <a:xfrm>
            <a:off x="6586982" y="2529681"/>
            <a:ext cx="4616768" cy="126960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E6E1D6"/>
                </a:solidFill>
                <a:latin typeface="IBM Plex Sans" pitchFamily="34" charset="0"/>
                <a:ea typeface="IBM Plex Sans" pitchFamily="34" charset="-122"/>
                <a:cs typeface="IBM Plex Sans" pitchFamily="34" charset="-120"/>
              </a:rPr>
              <a:t>Comentariul e despre cod, nu despre tine.</a:t>
            </a:r>
            <a:endParaRPr lang="en-US" sz="1400" dirty="0"/>
          </a:p>
          <a:p>
            <a:pPr marL="175768" indent="-175768" algn="l">
              <a:lnSpc>
                <a:spcPts val="1960"/>
              </a:lnSpc>
              <a:buSzPct val="100000"/>
              <a:buChar char="•"/>
            </a:pPr>
            <a:r>
              <a:rPr lang="en-US" sz="1400" dirty="0">
                <a:solidFill>
                  <a:srgbClr val="E6E1D6"/>
                </a:solidFill>
                <a:latin typeface="IBM Plex Sans" pitchFamily="34" charset="0"/>
                <a:ea typeface="IBM Plex Sans" pitchFamily="34" charset="-122"/>
                <a:cs typeface="IBM Plex Sans" pitchFamily="34" charset="-120"/>
              </a:rPr>
              <a:t>Răspunzi la fiecare comentariu.</a:t>
            </a:r>
            <a:endParaRPr lang="en-US" sz="1400" dirty="0"/>
          </a:p>
          <a:p>
            <a:pPr marL="175768" indent="-175768" algn="l">
              <a:lnSpc>
                <a:spcPts val="1960"/>
              </a:lnSpc>
              <a:buSzPct val="100000"/>
              <a:buChar char="•"/>
            </a:pPr>
            <a:r>
              <a:rPr lang="en-US" sz="1400" dirty="0">
                <a:solidFill>
                  <a:srgbClr val="E6E1D6"/>
                </a:solidFill>
                <a:latin typeface="IBM Plex Sans" pitchFamily="34" charset="0"/>
                <a:ea typeface="IBM Plex Sans" pitchFamily="34" charset="-122"/>
                <a:cs typeface="IBM Plex Sans" pitchFamily="34" charset="-120"/>
              </a:rPr>
              <a:t>Dacă nu ești de acord, argumentezi calm.</a:t>
            </a:r>
            <a:endParaRPr lang="en-US" sz="1400" dirty="0"/>
          </a:p>
          <a:p>
            <a:pPr marL="175768" indent="-175768" algn="l">
              <a:lnSpc>
                <a:spcPts val="1960"/>
              </a:lnSpc>
              <a:buSzPct val="100000"/>
              <a:buChar char="•"/>
            </a:pPr>
            <a:r>
              <a:rPr lang="en-US" sz="1400" dirty="0">
                <a:solidFill>
                  <a:srgbClr val="E6E1D6"/>
                </a:solidFill>
                <a:latin typeface="IBM Plex Sans" pitchFamily="34" charset="0"/>
                <a:ea typeface="IBM Plex Sans" pitchFamily="34" charset="-122"/>
                <a:cs typeface="IBM Plex Sans" pitchFamily="34" charset="-120"/>
              </a:rPr>
              <a:t>Mulțumești pentru timpul acordat.</a:t>
            </a:r>
            <a:endParaRPr lang="en-US" sz="1400" dirty="0"/>
          </a:p>
          <a:p>
            <a:pPr marL="175768" indent="-175768" algn="l">
              <a:lnSpc>
                <a:spcPts val="1960"/>
              </a:lnSpc>
              <a:buSzPct val="100000"/>
              <a:buChar char="•"/>
            </a:pPr>
            <a:r>
              <a:rPr lang="en-US" sz="1400" dirty="0">
                <a:solidFill>
                  <a:srgbClr val="E6E1D6"/>
                </a:solidFill>
                <a:latin typeface="IBM Plex Sans" pitchFamily="34" charset="0"/>
                <a:ea typeface="IBM Plex Sans" pitchFamily="34" charset="-122"/>
                <a:cs typeface="IBM Plex Sans" pitchFamily="34" charset="-120"/>
              </a:rPr>
              <a:t>O discuție lungă continuă la telefon.</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360183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884F"/>
                </a:solidFill>
                <a:latin typeface="IBM Plex Sans" pitchFamily="34" charset="0"/>
                <a:ea typeface="IBM Plex Sans" pitchFamily="34" charset="-122"/>
                <a:cs typeface="IBM Plex Sans" pitchFamily="34" charset="-120"/>
              </a:rPr>
              <a:t>PARTEA 6 ·</a:t>
            </a:r>
            <a:endParaRPr lang="en-US" sz="1200" dirty="0"/>
          </a:p>
        </p:txBody>
      </p:sp>
      <p:sp>
        <p:nvSpPr>
          <p:cNvPr id="3" name="Text 1"/>
          <p:cNvSpPr>
            <a:spLocks noGrp="1"/>
          </p:cNvSpPr>
          <p:nvPr>
            <p:ph type="title"/>
          </p:nvPr>
        </p:nvSpPr>
        <p:spPr>
          <a:xfrm>
            <a:off x="812800" y="4018359"/>
            <a:ext cx="10883392"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Documentație și scriere colaborativă</a:t>
            </a:r>
            <a:endParaRPr lang="en-US" sz="5600" dirty="0"/>
          </a:p>
        </p:txBody>
      </p:sp>
      <p:sp>
        <p:nvSpPr>
          <p:cNvPr id="4" name="Text 2"/>
          <p:cNvSpPr/>
          <p:nvPr/>
        </p:nvSpPr>
        <p:spPr>
          <a:xfrm>
            <a:off x="812800" y="5715000"/>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Regulile scrise ale unui proiect și GitHub folosit pentru texte</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DOCUMENTAȚIE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Regulile unui proiect stau în câteva fișiere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075387"/>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439341">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Fișier</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Ce conține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7202B"/>
                          </a:solidFill>
                          <a:latin typeface="IBM Plex Sans" pitchFamily="34" charset="0"/>
                          <a:ea typeface="IBM Plex Sans" pitchFamily="34" charset="-122"/>
                          <a:cs typeface="IBM Plex Sans" pitchFamily="34" charset="-120"/>
                        </a:rPr>
                        <a:t>Cine îl citește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README.md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Prezentarea proiectului</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Oricine intră</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CONTRIBUTING.md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Pașii și stilul pentru contribuții</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Viitorii colaboratori</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CODE_OF_CONDUCT.md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Regulile de comportament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Toată comunitatea</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LICENSE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Ce ai voie să faci cu codul</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Utilizatori, firme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CHANGELOG.md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Ce s-a schimbat în fiecare versiune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Cine actualizează</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439341">
                <a:tc>
                  <a:txBody>
                    <a:bodyPr/>
                    <a:lstStyle/>
                    <a:p>
                      <a:pPr marL="0" indent="0">
                        <a:lnSpc>
                          <a:spcPts val="1960"/>
                        </a:lnSpc>
                        <a:buNone/>
                      </a:pPr>
                      <a:r>
                        <a:rPr lang="en-US" sz="1400" dirty="0">
                          <a:solidFill>
                            <a:srgbClr val="B4501E"/>
                          </a:solidFill>
                          <a:latin typeface="IBM Plex Sans" pitchFamily="34" charset="0"/>
                          <a:ea typeface="IBM Plex Sans" pitchFamily="34" charset="-122"/>
                          <a:cs typeface="IBM Plex Sans" pitchFamily="34" charset="-120"/>
                        </a:rPr>
                        <a:t>SECURITY.md</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7202B"/>
                          </a:solidFill>
                          <a:latin typeface="IBM Plex Sans" pitchFamily="34" charset="0"/>
                          <a:ea typeface="IBM Plex Sans" pitchFamily="34" charset="-122"/>
                          <a:cs typeface="IBM Plex Sans" pitchFamily="34" charset="-120"/>
                        </a:rPr>
                        <a:t>Cum raportezi o vulnerabilitate, în privat</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4A5260"/>
                          </a:solidFill>
                          <a:latin typeface="IBM Plex Sans" pitchFamily="34" charset="0"/>
                          <a:ea typeface="IBM Plex Sans" pitchFamily="34" charset="-122"/>
                          <a:cs typeface="IBM Plex Sans" pitchFamily="34" charset="-120"/>
                        </a:rPr>
                        <a:t>Cercetători în securitate</a:t>
                      </a:r>
                      <a:endParaRPr lang="en-US" sz="1400" dirty="0">
                        <a:latin typeface="IBM Plex Sans" charset="0"/>
                        <a:ea typeface="IBM Plex Sans" charset="0"/>
                        <a:cs typeface="IBM Plex Sans" charset="0"/>
                      </a:endParaRPr>
                    </a:p>
                  </a:txBody>
                  <a:tcPr marL="152400" marR="1524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DOCUMENTAȚIE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Trei locuri pentru texte mai lungi decât un README</a:t>
            </a:r>
            <a:endParaRPr lang="en-US" sz="3200" dirty="0"/>
          </a:p>
        </p:txBody>
      </p:sp>
      <p:sp>
        <p:nvSpPr>
          <p:cNvPr id="4" name="Shape 2"/>
          <p:cNvSpPr/>
          <p:nvPr/>
        </p:nvSpPr>
        <p:spPr>
          <a:xfrm>
            <a:off x="815975" y="1882676"/>
            <a:ext cx="3380284" cy="2069802"/>
          </a:xfrm>
          <a:prstGeom prst="roundRect">
            <a:avLst>
              <a:gd name="adj" fmla="val 4755"/>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073150" y="2139851"/>
            <a:ext cx="29519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Wiki</a:t>
            </a:r>
            <a:endParaRPr lang="en-US" sz="1600" dirty="0"/>
          </a:p>
        </p:txBody>
      </p:sp>
      <p:sp>
        <p:nvSpPr>
          <p:cNvPr id="6" name="Text 4"/>
          <p:cNvSpPr/>
          <p:nvPr/>
        </p:nvSpPr>
        <p:spPr>
          <a:xfrm>
            <a:off x="1073150" y="2510631"/>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Pagini de documentație legate între ele, editabile direct din browser.</a:t>
            </a:r>
            <a:endParaRPr lang="en-US" sz="1400" dirty="0"/>
          </a:p>
        </p:txBody>
      </p:sp>
      <p:sp>
        <p:nvSpPr>
          <p:cNvPr id="7" name="Shape 5"/>
          <p:cNvSpPr/>
          <p:nvPr/>
        </p:nvSpPr>
        <p:spPr>
          <a:xfrm>
            <a:off x="1073150" y="3138488"/>
            <a:ext cx="2865934" cy="0"/>
          </a:xfrm>
          <a:prstGeom prst="line">
            <a:avLst/>
          </a:prstGeom>
          <a:noFill/>
          <a:ln w="6350">
            <a:solidFill>
              <a:srgbClr val="DDD8CE"/>
            </a:solidFill>
            <a:prstDash val="solid"/>
          </a:ln>
        </p:spPr>
        <p:txBody>
          <a:bodyPr/>
          <a:lstStyle/>
          <a:p>
            <a:endParaRPr lang="en-US"/>
          </a:p>
        </p:txBody>
      </p:sp>
      <p:sp>
        <p:nvSpPr>
          <p:cNvPr id="8" name="Text 6"/>
          <p:cNvSpPr/>
          <p:nvPr/>
        </p:nvSpPr>
        <p:spPr>
          <a:xfrm>
            <a:off x="1073150" y="3268663"/>
            <a:ext cx="29519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E"/>
                </a:solidFill>
                <a:latin typeface="IBM Plex Sans" pitchFamily="34" charset="0"/>
                <a:ea typeface="IBM Plex Sans" pitchFamily="34" charset="-122"/>
                <a:cs typeface="IBM Plex Sans" pitchFamily="34" charset="-120"/>
              </a:rPr>
              <a:t>Bun pentru: ghiduri, întrebări frecvente</a:t>
            </a:r>
            <a:endParaRPr lang="en-US" sz="1200" dirty="0"/>
          </a:p>
        </p:txBody>
      </p:sp>
      <p:sp>
        <p:nvSpPr>
          <p:cNvPr id="9" name="Shape 7"/>
          <p:cNvSpPr/>
          <p:nvPr/>
        </p:nvSpPr>
        <p:spPr>
          <a:xfrm>
            <a:off x="4405809" y="1882676"/>
            <a:ext cx="3380383" cy="2069802"/>
          </a:xfrm>
          <a:prstGeom prst="roundRect">
            <a:avLst>
              <a:gd name="adj" fmla="val 4755"/>
            </a:avLst>
          </a:prstGeom>
          <a:solidFill>
            <a:srgbClr val="FCFBF8"/>
          </a:solidFill>
          <a:ln w="6350">
            <a:solidFill>
              <a:srgbClr val="DDD8CE"/>
            </a:solidFill>
            <a:prstDash val="solid"/>
          </a:ln>
        </p:spPr>
        <p:txBody>
          <a:bodyPr/>
          <a:lstStyle/>
          <a:p>
            <a:endParaRPr lang="en-US"/>
          </a:p>
        </p:txBody>
      </p:sp>
      <p:sp>
        <p:nvSpPr>
          <p:cNvPr id="10" name="Text 8"/>
          <p:cNvSpPr/>
          <p:nvPr/>
        </p:nvSpPr>
        <p:spPr>
          <a:xfrm>
            <a:off x="4662984" y="2139851"/>
            <a:ext cx="29520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GitHub Pages</a:t>
            </a:r>
            <a:endParaRPr lang="en-US" sz="1600" dirty="0"/>
          </a:p>
        </p:txBody>
      </p:sp>
      <p:sp>
        <p:nvSpPr>
          <p:cNvPr id="11" name="Text 9"/>
          <p:cNvSpPr/>
          <p:nvPr/>
        </p:nvSpPr>
        <p:spPr>
          <a:xfrm>
            <a:off x="4662984" y="2510631"/>
            <a:ext cx="295201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Un site web gratuit, publicat direct din fișierele unui repository.</a:t>
            </a:r>
            <a:endParaRPr lang="en-US" sz="1400" dirty="0"/>
          </a:p>
        </p:txBody>
      </p:sp>
      <p:sp>
        <p:nvSpPr>
          <p:cNvPr id="12" name="Shape 10"/>
          <p:cNvSpPr/>
          <p:nvPr/>
        </p:nvSpPr>
        <p:spPr>
          <a:xfrm>
            <a:off x="4662984" y="3138488"/>
            <a:ext cx="2866033" cy="0"/>
          </a:xfrm>
          <a:prstGeom prst="line">
            <a:avLst/>
          </a:prstGeom>
          <a:noFill/>
          <a:ln w="6350">
            <a:solidFill>
              <a:srgbClr val="DDD8CE"/>
            </a:solidFill>
            <a:prstDash val="solid"/>
          </a:ln>
        </p:spPr>
        <p:txBody>
          <a:bodyPr/>
          <a:lstStyle/>
          <a:p>
            <a:endParaRPr lang="en-US"/>
          </a:p>
        </p:txBody>
      </p:sp>
      <p:sp>
        <p:nvSpPr>
          <p:cNvPr id="13" name="Text 11"/>
          <p:cNvSpPr/>
          <p:nvPr/>
        </p:nvSpPr>
        <p:spPr>
          <a:xfrm>
            <a:off x="4662984" y="3268663"/>
            <a:ext cx="295201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E"/>
                </a:solidFill>
                <a:latin typeface="IBM Plex Sans" pitchFamily="34" charset="0"/>
                <a:ea typeface="IBM Plex Sans" pitchFamily="34" charset="-122"/>
                <a:cs typeface="IBM Plex Sans" pitchFamily="34" charset="-120"/>
              </a:rPr>
              <a:t>Bun pentru: portofoliu, documentație publică</a:t>
            </a:r>
            <a:endParaRPr lang="en-US" sz="1200" dirty="0"/>
          </a:p>
        </p:txBody>
      </p:sp>
      <p:sp>
        <p:nvSpPr>
          <p:cNvPr id="14" name="Shape 12"/>
          <p:cNvSpPr/>
          <p:nvPr/>
        </p:nvSpPr>
        <p:spPr>
          <a:xfrm>
            <a:off x="7995741" y="1882676"/>
            <a:ext cx="3380284" cy="2069802"/>
          </a:xfrm>
          <a:prstGeom prst="roundRect">
            <a:avLst>
              <a:gd name="adj" fmla="val 4755"/>
            </a:avLst>
          </a:prstGeom>
          <a:solidFill>
            <a:srgbClr val="FCFBF8"/>
          </a:solidFill>
          <a:ln w="6350">
            <a:solidFill>
              <a:srgbClr val="DDD8CE"/>
            </a:solidFill>
            <a:prstDash val="solid"/>
          </a:ln>
        </p:spPr>
        <p:txBody>
          <a:bodyPr/>
          <a:lstStyle/>
          <a:p>
            <a:endParaRPr lang="en-US"/>
          </a:p>
        </p:txBody>
      </p:sp>
      <p:sp>
        <p:nvSpPr>
          <p:cNvPr id="15" name="Text 13"/>
          <p:cNvSpPr/>
          <p:nvPr/>
        </p:nvSpPr>
        <p:spPr>
          <a:xfrm>
            <a:off x="8252916" y="2139851"/>
            <a:ext cx="29519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2B"/>
                </a:solidFill>
                <a:latin typeface="IBM Plex Sans" pitchFamily="34" charset="0"/>
                <a:ea typeface="IBM Plex Sans" pitchFamily="34" charset="-122"/>
                <a:cs typeface="IBM Plex Sans" pitchFamily="34" charset="-120"/>
              </a:rPr>
              <a:t>Discussions</a:t>
            </a:r>
            <a:endParaRPr lang="en-US" sz="1600" dirty="0"/>
          </a:p>
        </p:txBody>
      </p:sp>
      <p:sp>
        <p:nvSpPr>
          <p:cNvPr id="16" name="Text 14"/>
          <p:cNvSpPr/>
          <p:nvPr/>
        </p:nvSpPr>
        <p:spPr>
          <a:xfrm>
            <a:off x="8252916" y="2510631"/>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0"/>
                </a:solidFill>
                <a:latin typeface="IBM Plex Sans" pitchFamily="34" charset="0"/>
                <a:ea typeface="IBM Plex Sans" pitchFamily="34" charset="-122"/>
                <a:cs typeface="IBM Plex Sans" pitchFamily="34" charset="-120"/>
              </a:rPr>
              <a:t>Un forum al proiectului, separat de issues.</a:t>
            </a:r>
            <a:endParaRPr lang="en-US" sz="1400" dirty="0"/>
          </a:p>
        </p:txBody>
      </p:sp>
      <p:sp>
        <p:nvSpPr>
          <p:cNvPr id="17" name="Shape 15"/>
          <p:cNvSpPr/>
          <p:nvPr/>
        </p:nvSpPr>
        <p:spPr>
          <a:xfrm>
            <a:off x="8252916" y="3138488"/>
            <a:ext cx="2865934" cy="0"/>
          </a:xfrm>
          <a:prstGeom prst="line">
            <a:avLst/>
          </a:prstGeom>
          <a:noFill/>
          <a:ln w="6350">
            <a:solidFill>
              <a:srgbClr val="DDD8CE"/>
            </a:solidFill>
            <a:prstDash val="solid"/>
          </a:ln>
        </p:spPr>
        <p:txBody>
          <a:bodyPr/>
          <a:lstStyle/>
          <a:p>
            <a:endParaRPr lang="en-US"/>
          </a:p>
        </p:txBody>
      </p:sp>
      <p:sp>
        <p:nvSpPr>
          <p:cNvPr id="18" name="Text 16"/>
          <p:cNvSpPr/>
          <p:nvPr/>
        </p:nvSpPr>
        <p:spPr>
          <a:xfrm>
            <a:off x="8252916" y="3268663"/>
            <a:ext cx="29519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501E"/>
                </a:solidFill>
                <a:latin typeface="IBM Plex Sans" pitchFamily="34" charset="0"/>
                <a:ea typeface="IBM Plex Sans" pitchFamily="34" charset="-122"/>
                <a:cs typeface="IBM Plex Sans" pitchFamily="34" charset="-120"/>
              </a:rPr>
              <a:t>Bun pentru: întrebări, idei, anunțuri</a:t>
            </a:r>
            <a:endParaRPr lang="en-US" sz="12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SCRIERE COLABORATIVĂ</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Lucrarea de licență poate avea și ea un istoric</a:t>
            </a:r>
            <a:endParaRPr lang="en-US" sz="3200" dirty="0"/>
          </a:p>
        </p:txBody>
      </p:sp>
      <p:sp>
        <p:nvSpPr>
          <p:cNvPr id="4" name="Text 2"/>
          <p:cNvSpPr/>
          <p:nvPr/>
        </p:nvSpPr>
        <p:spPr>
          <a:xfrm>
            <a:off x="855663" y="1879501"/>
            <a:ext cx="5365052" cy="2337991"/>
          </a:xfrm>
          <a:prstGeom prst="rect">
            <a:avLst/>
          </a:prstGeom>
          <a:noFill/>
          <a:ln/>
        </p:spPr>
        <p:txBody>
          <a:bodyPr wrap="square" lIns="0" tIns="0" rIns="0" bIns="0" rtlCol="0" anchor="t">
            <a:normAutofit/>
          </a:bodyPr>
          <a:lstStyle/>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Scrii capitolele în Markdown sau LaTeX, câte un fișier pe capitol.</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Faci un commit după fiecare sesiune de scris.</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Fiecare observație a coordonatorului devine un issue.</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Versiunea trimisă primește o etichetă: </a:t>
            </a:r>
            <a:r>
              <a:rPr lang="en-US" sz="1500" dirty="0">
                <a:solidFill>
                  <a:srgbClr val="B4501E"/>
                </a:solidFill>
                <a:latin typeface="IBM Plex Sans" pitchFamily="34" charset="0"/>
                <a:ea typeface="IBM Plex Sans" pitchFamily="34" charset="-122"/>
                <a:cs typeface="IBM Plex Sans" pitchFamily="34" charset="-120"/>
              </a:rPr>
              <a:t>v1-coordonator</a:t>
            </a:r>
            <a:r>
              <a:rPr lang="en-US" sz="1500" dirty="0">
                <a:solidFill>
                  <a:srgbClr val="17202B"/>
                </a:solidFill>
                <a:latin typeface="IBM Plex Sans" pitchFamily="34" charset="0"/>
                <a:ea typeface="IBM Plex Sans" pitchFamily="34" charset="-122"/>
                <a:cs typeface="IBM Plex Sans" pitchFamily="34" charset="-120"/>
              </a:rPr>
              <a:t>.</a:t>
            </a:r>
            <a:endParaRPr lang="en-US" sz="1500" dirty="0"/>
          </a:p>
        </p:txBody>
      </p:sp>
      <p:sp>
        <p:nvSpPr>
          <p:cNvPr id="5" name="Text 3"/>
          <p:cNvSpPr/>
          <p:nvPr/>
        </p:nvSpPr>
        <p:spPr>
          <a:xfrm>
            <a:off x="6375400" y="1879501"/>
            <a:ext cx="515391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CE SE VEDE ÎNTRE DOUĂ VERSIUNI</a:t>
            </a:r>
            <a:endParaRPr lang="en-US" sz="1200" dirty="0"/>
          </a:p>
        </p:txBody>
      </p:sp>
      <p:sp>
        <p:nvSpPr>
          <p:cNvPr id="6" name="Shape 4"/>
          <p:cNvSpPr/>
          <p:nvPr/>
        </p:nvSpPr>
        <p:spPr>
          <a:xfrm>
            <a:off x="6375400" y="2219821"/>
            <a:ext cx="5003800" cy="1972270"/>
          </a:xfrm>
          <a:prstGeom prst="roundRect">
            <a:avLst>
              <a:gd name="adj" fmla="val 5151"/>
            </a:avLst>
          </a:prstGeom>
          <a:solidFill>
            <a:srgbClr val="17202B"/>
          </a:solidFill>
          <a:ln/>
        </p:spPr>
        <p:txBody>
          <a:bodyPr/>
          <a:lstStyle/>
          <a:p>
            <a:endParaRPr lang="en-US"/>
          </a:p>
        </p:txBody>
      </p:sp>
      <p:sp>
        <p:nvSpPr>
          <p:cNvPr id="7" name="Text 5"/>
          <p:cNvSpPr/>
          <p:nvPr/>
        </p:nvSpPr>
        <p:spPr>
          <a:xfrm>
            <a:off x="6629400" y="2473821"/>
            <a:ext cx="4495800" cy="400050"/>
          </a:xfrm>
          <a:prstGeom prst="roundRect">
            <a:avLst>
              <a:gd name="adj" fmla="val 12698"/>
            </a:avLst>
          </a:prstGeom>
          <a:solidFill>
            <a:srgbClr val="3A2328"/>
          </a:solidFill>
          <a:ln/>
        </p:spPr>
        <p:txBody>
          <a:bodyPr wrap="square" lIns="86721" tIns="61321" rIns="0" bIns="35921" rtlCol="0" anchor="t">
            <a:normAutofit/>
          </a:bodyPr>
          <a:lstStyle/>
          <a:p>
            <a:pPr marL="0" indent="0" algn="l">
              <a:lnSpc>
                <a:spcPts val="1950"/>
              </a:lnSpc>
              <a:buNone/>
            </a:pPr>
            <a:r>
              <a:rPr lang="en-US" sz="1300" dirty="0">
                <a:solidFill>
                  <a:srgbClr val="F2A3A3"/>
                </a:solidFill>
                <a:latin typeface="JetBrains Mono" pitchFamily="49" charset="0"/>
                <a:ea typeface="JetBrains Mono" pitchFamily="49" charset="-122"/>
                <a:cs typeface="JetBrains Mono" pitchFamily="49" charset="-120"/>
              </a:rPr>
              <a:t>- Rezultatele sunt foarte bune.</a:t>
            </a:r>
            <a:endParaRPr lang="en-US" sz="1300" dirty="0"/>
          </a:p>
        </p:txBody>
      </p:sp>
      <p:sp>
        <p:nvSpPr>
          <p:cNvPr id="8" name="Text 6"/>
          <p:cNvSpPr/>
          <p:nvPr/>
        </p:nvSpPr>
        <p:spPr>
          <a:xfrm>
            <a:off x="6629400" y="2975471"/>
            <a:ext cx="4495800" cy="647700"/>
          </a:xfrm>
          <a:prstGeom prst="roundRect">
            <a:avLst>
              <a:gd name="adj" fmla="val 7843"/>
            </a:avLst>
          </a:prstGeom>
          <a:solidFill>
            <a:srgbClr val="1F3A2B"/>
          </a:solidFill>
          <a:ln/>
        </p:spPr>
        <p:txBody>
          <a:bodyPr wrap="square" lIns="86721" tIns="61321" rIns="0" bIns="35921" rtlCol="0" anchor="t">
            <a:normAutofit/>
          </a:bodyPr>
          <a:lstStyle/>
          <a:p>
            <a:pPr marL="0" indent="0" algn="l">
              <a:lnSpc>
                <a:spcPts val="1950"/>
              </a:lnSpc>
              <a:buNone/>
            </a:pPr>
            <a:r>
              <a:rPr lang="en-US" sz="1300" dirty="0">
                <a:solidFill>
                  <a:srgbClr val="A8DDB5"/>
                </a:solidFill>
                <a:latin typeface="JetBrains Mono" pitchFamily="49" charset="0"/>
                <a:ea typeface="JetBrains Mono" pitchFamily="49" charset="-122"/>
                <a:cs typeface="JetBrains Mono" pitchFamily="49" charset="-120"/>
              </a:rPr>
              <a:t>+ Timpul de răspuns scade de la 340 ms la 300 ms (Tabelul 3).</a:t>
            </a:r>
            <a:endParaRPr lang="en-US" sz="1300" dirty="0"/>
          </a:p>
        </p:txBody>
      </p:sp>
      <p:sp>
        <p:nvSpPr>
          <p:cNvPr id="9" name="Text 7"/>
          <p:cNvSpPr/>
          <p:nvPr/>
        </p:nvSpPr>
        <p:spPr>
          <a:xfrm>
            <a:off x="6629400" y="3724771"/>
            <a:ext cx="46306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6D1"/>
                </a:solidFill>
                <a:latin typeface="IBM Plex Sans" pitchFamily="34" charset="0"/>
                <a:ea typeface="IBM Plex Sans" pitchFamily="34" charset="-122"/>
                <a:cs typeface="IBM Plex Sans" pitchFamily="34" charset="-120"/>
              </a:rPr>
              <a:t>Rândul eliminat (−) și rândul adăugat (+), cu autorul și data.</a:t>
            </a:r>
            <a:endParaRPr lang="en-US" sz="12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RECAPITULARE</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Șase reguli de luat acasă</a:t>
            </a:r>
            <a:endParaRPr lang="en-US" sz="3200" dirty="0"/>
          </a:p>
        </p:txBody>
      </p:sp>
      <p:sp>
        <p:nvSpPr>
          <p:cNvPr id="4" name="Shape 2"/>
          <p:cNvSpPr/>
          <p:nvPr/>
        </p:nvSpPr>
        <p:spPr>
          <a:xfrm>
            <a:off x="815975" y="1882676"/>
            <a:ext cx="5175250" cy="956171"/>
          </a:xfrm>
          <a:prstGeom prst="roundRect">
            <a:avLst>
              <a:gd name="adj" fmla="val 10294"/>
            </a:avLst>
          </a:prstGeom>
          <a:solidFill>
            <a:srgbClr val="FCFBF8"/>
          </a:solidFill>
          <a:ln w="6350">
            <a:solidFill>
              <a:srgbClr val="DDD8CE"/>
            </a:solidFill>
            <a:prstDash val="solid"/>
          </a:ln>
        </p:spPr>
        <p:txBody>
          <a:bodyPr/>
          <a:lstStyle/>
          <a:p>
            <a:endParaRPr lang="en-US"/>
          </a:p>
        </p:txBody>
      </p:sp>
      <p:sp>
        <p:nvSpPr>
          <p:cNvPr id="5" name="Text 3"/>
          <p:cNvSpPr/>
          <p:nvPr/>
        </p:nvSpPr>
        <p:spPr>
          <a:xfrm>
            <a:off x="1073150" y="20890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E"/>
                </a:solidFill>
                <a:latin typeface="IBM Plex Sans" pitchFamily="34" charset="0"/>
                <a:ea typeface="IBM Plex Sans" pitchFamily="34" charset="-122"/>
                <a:cs typeface="IBM Plex Sans" pitchFamily="34" charset="-120"/>
              </a:rPr>
              <a:t>Markdown</a:t>
            </a:r>
            <a:endParaRPr lang="en-US" sz="1600" dirty="0"/>
          </a:p>
        </p:txBody>
      </p:sp>
      <p:sp>
        <p:nvSpPr>
          <p:cNvPr id="6" name="Text 4"/>
          <p:cNvSpPr/>
          <p:nvPr/>
        </p:nvSpPr>
        <p:spPr>
          <a:xfrm>
            <a:off x="1073150" y="23836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Câteva semne și un Preview înainte de publicare.</a:t>
            </a:r>
            <a:endParaRPr lang="en-US" sz="1400" dirty="0"/>
          </a:p>
        </p:txBody>
      </p:sp>
      <p:sp>
        <p:nvSpPr>
          <p:cNvPr id="7" name="Shape 5"/>
          <p:cNvSpPr/>
          <p:nvPr/>
        </p:nvSpPr>
        <p:spPr>
          <a:xfrm>
            <a:off x="6200775" y="1882676"/>
            <a:ext cx="5175250" cy="956171"/>
          </a:xfrm>
          <a:prstGeom prst="roundRect">
            <a:avLst>
              <a:gd name="adj" fmla="val 10294"/>
            </a:avLst>
          </a:prstGeom>
          <a:solidFill>
            <a:srgbClr val="FCFBF8"/>
          </a:solidFill>
          <a:ln w="6350">
            <a:solidFill>
              <a:srgbClr val="DDD8CE"/>
            </a:solidFill>
            <a:prstDash val="solid"/>
          </a:ln>
        </p:spPr>
        <p:txBody>
          <a:bodyPr/>
          <a:lstStyle/>
          <a:p>
            <a:endParaRPr lang="en-US"/>
          </a:p>
        </p:txBody>
      </p:sp>
      <p:sp>
        <p:nvSpPr>
          <p:cNvPr id="8" name="Text 6"/>
          <p:cNvSpPr/>
          <p:nvPr/>
        </p:nvSpPr>
        <p:spPr>
          <a:xfrm>
            <a:off x="6457950" y="2089051"/>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E"/>
                </a:solidFill>
                <a:latin typeface="IBM Plex Sans" pitchFamily="34" charset="0"/>
                <a:ea typeface="IBM Plex Sans" pitchFamily="34" charset="-122"/>
                <a:cs typeface="IBM Plex Sans" pitchFamily="34" charset="-120"/>
              </a:rPr>
              <a:t>Issue</a:t>
            </a:r>
            <a:endParaRPr lang="en-US" sz="1600" dirty="0"/>
          </a:p>
        </p:txBody>
      </p:sp>
      <p:sp>
        <p:nvSpPr>
          <p:cNvPr id="9" name="Text 7"/>
          <p:cNvSpPr/>
          <p:nvPr/>
        </p:nvSpPr>
        <p:spPr>
          <a:xfrm>
            <a:off x="6457950" y="23836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Pași, ce așteptai, ce s-a întâmplat, mediul.</a:t>
            </a:r>
            <a:endParaRPr lang="en-US" sz="1400" dirty="0"/>
          </a:p>
        </p:txBody>
      </p:sp>
      <p:sp>
        <p:nvSpPr>
          <p:cNvPr id="10" name="Shape 8"/>
          <p:cNvSpPr/>
          <p:nvPr/>
        </p:nvSpPr>
        <p:spPr>
          <a:xfrm>
            <a:off x="815975" y="2997597"/>
            <a:ext cx="5175250" cy="956171"/>
          </a:xfrm>
          <a:prstGeom prst="roundRect">
            <a:avLst>
              <a:gd name="adj" fmla="val 10294"/>
            </a:avLst>
          </a:prstGeom>
          <a:solidFill>
            <a:srgbClr val="FCFBF8"/>
          </a:solidFill>
          <a:ln w="6350">
            <a:solidFill>
              <a:srgbClr val="DDD8CE"/>
            </a:solidFill>
            <a:prstDash val="solid"/>
          </a:ln>
        </p:spPr>
        <p:txBody>
          <a:bodyPr/>
          <a:lstStyle/>
          <a:p>
            <a:endParaRPr lang="en-US"/>
          </a:p>
        </p:txBody>
      </p:sp>
      <p:sp>
        <p:nvSpPr>
          <p:cNvPr id="11" name="Text 9"/>
          <p:cNvSpPr/>
          <p:nvPr/>
        </p:nvSpPr>
        <p:spPr>
          <a:xfrm>
            <a:off x="1073150" y="3203972"/>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E"/>
                </a:solidFill>
                <a:latin typeface="IBM Plex Sans" pitchFamily="34" charset="0"/>
                <a:ea typeface="IBM Plex Sans" pitchFamily="34" charset="-122"/>
                <a:cs typeface="IBM Plex Sans" pitchFamily="34" charset="-120"/>
              </a:rPr>
              <a:t>README</a:t>
            </a:r>
            <a:endParaRPr lang="en-US" sz="1600" dirty="0"/>
          </a:p>
        </p:txBody>
      </p:sp>
      <p:sp>
        <p:nvSpPr>
          <p:cNvPr id="12" name="Text 10"/>
          <p:cNvSpPr/>
          <p:nvPr/>
        </p:nvSpPr>
        <p:spPr>
          <a:xfrm>
            <a:off x="1073150" y="3498552"/>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Șase întrebări, scrise pentru un străin.</a:t>
            </a:r>
            <a:endParaRPr lang="en-US" sz="1400" dirty="0"/>
          </a:p>
        </p:txBody>
      </p:sp>
      <p:sp>
        <p:nvSpPr>
          <p:cNvPr id="13" name="Shape 11"/>
          <p:cNvSpPr/>
          <p:nvPr/>
        </p:nvSpPr>
        <p:spPr>
          <a:xfrm>
            <a:off x="6200775" y="2997597"/>
            <a:ext cx="5175250" cy="956171"/>
          </a:xfrm>
          <a:prstGeom prst="roundRect">
            <a:avLst>
              <a:gd name="adj" fmla="val 10294"/>
            </a:avLst>
          </a:prstGeom>
          <a:solidFill>
            <a:srgbClr val="FCFBF8"/>
          </a:solidFill>
          <a:ln w="6350">
            <a:solidFill>
              <a:srgbClr val="DDD8CE"/>
            </a:solidFill>
            <a:prstDash val="solid"/>
          </a:ln>
        </p:spPr>
        <p:txBody>
          <a:bodyPr/>
          <a:lstStyle/>
          <a:p>
            <a:endParaRPr lang="en-US"/>
          </a:p>
        </p:txBody>
      </p:sp>
      <p:sp>
        <p:nvSpPr>
          <p:cNvPr id="14" name="Text 12"/>
          <p:cNvSpPr/>
          <p:nvPr/>
        </p:nvSpPr>
        <p:spPr>
          <a:xfrm>
            <a:off x="6457950" y="3203972"/>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E"/>
                </a:solidFill>
                <a:latin typeface="IBM Plex Sans" pitchFamily="34" charset="0"/>
                <a:ea typeface="IBM Plex Sans" pitchFamily="34" charset="-122"/>
                <a:cs typeface="IBM Plex Sans" pitchFamily="34" charset="-120"/>
              </a:rPr>
              <a:t>Pull request</a:t>
            </a:r>
            <a:endParaRPr lang="en-US" sz="1600" dirty="0"/>
          </a:p>
        </p:txBody>
      </p:sp>
      <p:sp>
        <p:nvSpPr>
          <p:cNvPr id="15" name="Text 13"/>
          <p:cNvSpPr/>
          <p:nvPr/>
        </p:nvSpPr>
        <p:spPr>
          <a:xfrm>
            <a:off x="6457950" y="3498552"/>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Ce, de ce, cum verifici și unde ai dubii.</a:t>
            </a:r>
            <a:endParaRPr lang="en-US" sz="1400" dirty="0"/>
          </a:p>
        </p:txBody>
      </p:sp>
      <p:sp>
        <p:nvSpPr>
          <p:cNvPr id="16" name="Shape 14"/>
          <p:cNvSpPr/>
          <p:nvPr/>
        </p:nvSpPr>
        <p:spPr>
          <a:xfrm>
            <a:off x="815975" y="4112518"/>
            <a:ext cx="5175250" cy="956171"/>
          </a:xfrm>
          <a:prstGeom prst="roundRect">
            <a:avLst>
              <a:gd name="adj" fmla="val 10294"/>
            </a:avLst>
          </a:prstGeom>
          <a:solidFill>
            <a:srgbClr val="FCFBF8"/>
          </a:solidFill>
          <a:ln w="6350">
            <a:solidFill>
              <a:srgbClr val="DDD8CE"/>
            </a:solidFill>
            <a:prstDash val="solid"/>
          </a:ln>
        </p:spPr>
        <p:txBody>
          <a:bodyPr/>
          <a:lstStyle/>
          <a:p>
            <a:endParaRPr lang="en-US"/>
          </a:p>
        </p:txBody>
      </p:sp>
      <p:sp>
        <p:nvSpPr>
          <p:cNvPr id="17" name="Text 15"/>
          <p:cNvSpPr/>
          <p:nvPr/>
        </p:nvSpPr>
        <p:spPr>
          <a:xfrm>
            <a:off x="1073150" y="4318893"/>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E"/>
                </a:solidFill>
                <a:latin typeface="IBM Plex Sans" pitchFamily="34" charset="0"/>
                <a:ea typeface="IBM Plex Sans" pitchFamily="34" charset="-122"/>
                <a:cs typeface="IBM Plex Sans" pitchFamily="34" charset="-120"/>
              </a:rPr>
              <a:t>Commit</a:t>
            </a:r>
            <a:endParaRPr lang="en-US" sz="1600" dirty="0"/>
          </a:p>
        </p:txBody>
      </p:sp>
      <p:sp>
        <p:nvSpPr>
          <p:cNvPr id="18" name="Text 16"/>
          <p:cNvSpPr/>
          <p:nvPr/>
        </p:nvSpPr>
        <p:spPr>
          <a:xfrm>
            <a:off x="1073150" y="4613473"/>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Un verb, sub 50 de caractere; corpul spune de ce.</a:t>
            </a:r>
            <a:endParaRPr lang="en-US" sz="1400" dirty="0"/>
          </a:p>
        </p:txBody>
      </p:sp>
      <p:sp>
        <p:nvSpPr>
          <p:cNvPr id="19" name="Shape 17"/>
          <p:cNvSpPr/>
          <p:nvPr/>
        </p:nvSpPr>
        <p:spPr>
          <a:xfrm>
            <a:off x="6200775" y="4112518"/>
            <a:ext cx="5175250" cy="956171"/>
          </a:xfrm>
          <a:prstGeom prst="roundRect">
            <a:avLst>
              <a:gd name="adj" fmla="val 10294"/>
            </a:avLst>
          </a:prstGeom>
          <a:solidFill>
            <a:srgbClr val="FCFBF8"/>
          </a:solidFill>
          <a:ln w="6350">
            <a:solidFill>
              <a:srgbClr val="DDD8CE"/>
            </a:solidFill>
            <a:prstDash val="solid"/>
          </a:ln>
        </p:spPr>
        <p:txBody>
          <a:bodyPr/>
          <a:lstStyle/>
          <a:p>
            <a:endParaRPr lang="en-US"/>
          </a:p>
        </p:txBody>
      </p:sp>
      <p:sp>
        <p:nvSpPr>
          <p:cNvPr id="20" name="Text 18"/>
          <p:cNvSpPr/>
          <p:nvPr/>
        </p:nvSpPr>
        <p:spPr>
          <a:xfrm>
            <a:off x="6457950" y="4318893"/>
            <a:ext cx="48007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01E"/>
                </a:solidFill>
                <a:latin typeface="IBM Plex Sans" pitchFamily="34" charset="0"/>
                <a:ea typeface="IBM Plex Sans" pitchFamily="34" charset="-122"/>
                <a:cs typeface="IBM Plex Sans" pitchFamily="34" charset="-120"/>
              </a:rPr>
              <a:t>Code review</a:t>
            </a:r>
            <a:endParaRPr lang="en-US" sz="1600" dirty="0"/>
          </a:p>
        </p:txBody>
      </p:sp>
      <p:sp>
        <p:nvSpPr>
          <p:cNvPr id="21" name="Text 19"/>
          <p:cNvSpPr/>
          <p:nvPr/>
        </p:nvSpPr>
        <p:spPr>
          <a:xfrm>
            <a:off x="6457950" y="4613473"/>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2B"/>
                </a:solidFill>
                <a:latin typeface="IBM Plex Sans" pitchFamily="34" charset="0"/>
                <a:ea typeface="IBM Plex Sans" pitchFamily="34" charset="-122"/>
                <a:cs typeface="IBM Plex Sans" pitchFamily="34" charset="-120"/>
              </a:rPr>
              <a:t>Despre cod, nu despre om; spui ce e opțional.</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E"/>
                </a:solidFill>
                <a:latin typeface="IBM Plex Sans" pitchFamily="34" charset="0"/>
                <a:ea typeface="IBM Plex Sans" pitchFamily="34" charset="-122"/>
                <a:cs typeface="IBM Plex Sans" pitchFamily="34" charset="-120"/>
              </a:rPr>
              <a:t>TEMĂ</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2B"/>
                </a:solidFill>
                <a:latin typeface="IBM Plex Sans" pitchFamily="34" charset="0"/>
                <a:ea typeface="IBM Plex Sans" pitchFamily="34" charset="-122"/>
                <a:cs typeface="IBM Plex Sans" pitchFamily="34" charset="-120"/>
              </a:rPr>
              <a:t>Un repository al vostru, scris după regulile de azi</a:t>
            </a:r>
            <a:endParaRPr lang="en-US" sz="3200" dirty="0"/>
          </a:p>
        </p:txBody>
      </p:sp>
      <p:sp>
        <p:nvSpPr>
          <p:cNvPr id="4" name="Text 2"/>
          <p:cNvSpPr/>
          <p:nvPr/>
        </p:nvSpPr>
        <p:spPr>
          <a:xfrm>
            <a:off x="855663" y="1879501"/>
            <a:ext cx="6081849" cy="2229743"/>
          </a:xfrm>
          <a:prstGeom prst="rect">
            <a:avLst/>
          </a:prstGeom>
          <a:noFill/>
          <a:ln/>
        </p:spPr>
        <p:txBody>
          <a:bodyPr wrap="square" lIns="0" tIns="0" rIns="0" bIns="0" rtlCol="0" anchor="t">
            <a:normAutofit/>
          </a:bodyPr>
          <a:lstStyle/>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Creați un repository public, </a:t>
            </a:r>
            <a:r>
              <a:rPr lang="en-US" sz="1500" dirty="0">
                <a:solidFill>
                  <a:srgbClr val="B4501E"/>
                </a:solidFill>
                <a:latin typeface="IBM Plex Sans" pitchFamily="34" charset="0"/>
                <a:ea typeface="IBM Plex Sans" pitchFamily="34" charset="-122"/>
                <a:cs typeface="IBM Plex Sans" pitchFamily="34" charset="-120"/>
              </a:rPr>
              <a:t>nume-redactare</a:t>
            </a:r>
            <a:r>
              <a:rPr lang="en-US" sz="1500" dirty="0">
                <a:solidFill>
                  <a:srgbClr val="17202B"/>
                </a:solidFill>
                <a:latin typeface="IBM Plex Sans" pitchFamily="34" charset="0"/>
                <a:ea typeface="IBM Plex Sans" pitchFamily="34" charset="-122"/>
                <a:cs typeface="IBM Plex Sans" pitchFamily="34" charset="-120"/>
              </a:rPr>
              <a:t>.</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Scrieți un README.md care răspunde la cele șase întrebări.</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Faceți cel puțin trei commit-uri cu mesaje după reguli.</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Deschideți un issue care descrie o îmbunătățire.</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Rezolvați-l pe o ramură separată și deschideți un pull request.</a:t>
            </a:r>
            <a:endParaRPr lang="en-US" sz="1500" dirty="0"/>
          </a:p>
          <a:p>
            <a:pPr marL="211138" indent="-211138" algn="l">
              <a:lnSpc>
                <a:spcPts val="2025"/>
              </a:lnSpc>
              <a:buSzPct val="100000"/>
              <a:buFontTx/>
              <a:buAutoNum type="arabicPeriod"/>
            </a:pPr>
            <a:r>
              <a:rPr lang="en-US" sz="1500" dirty="0">
                <a:solidFill>
                  <a:srgbClr val="17202B"/>
                </a:solidFill>
                <a:latin typeface="IBM Plex Sans" pitchFamily="34" charset="0"/>
                <a:ea typeface="IBM Plex Sans" pitchFamily="34" charset="-122"/>
                <a:cs typeface="IBM Plex Sans" pitchFamily="34" charset="-120"/>
              </a:rPr>
              <a:t>Faceți review la PR-ul unui coleg: cel puțin două comentarii utile.</a:t>
            </a:r>
            <a:endParaRPr lang="en-US" sz="1500" dirty="0"/>
          </a:p>
        </p:txBody>
      </p:sp>
      <p:sp>
        <p:nvSpPr>
          <p:cNvPr id="5" name="Shape 3"/>
          <p:cNvSpPr/>
          <p:nvPr/>
        </p:nvSpPr>
        <p:spPr>
          <a:xfrm>
            <a:off x="7071320" y="1879501"/>
            <a:ext cx="4307880" cy="2204343"/>
          </a:xfrm>
          <a:prstGeom prst="roundRect">
            <a:avLst>
              <a:gd name="adj" fmla="val 4609"/>
            </a:avLst>
          </a:prstGeom>
          <a:solidFill>
            <a:srgbClr val="17202B"/>
          </a:solidFill>
          <a:ln/>
        </p:spPr>
        <p:txBody>
          <a:bodyPr/>
          <a:lstStyle/>
          <a:p>
            <a:endParaRPr lang="en-US"/>
          </a:p>
        </p:txBody>
      </p:sp>
      <p:sp>
        <p:nvSpPr>
          <p:cNvPr id="6" name="Text 4"/>
          <p:cNvSpPr/>
          <p:nvPr/>
        </p:nvSpPr>
        <p:spPr>
          <a:xfrm>
            <a:off x="7325320" y="2133501"/>
            <a:ext cx="391387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884F"/>
                </a:solidFill>
                <a:latin typeface="IBM Plex Sans" pitchFamily="34" charset="0"/>
                <a:ea typeface="IBM Plex Sans" pitchFamily="34" charset="-122"/>
                <a:cs typeface="IBM Plex Sans" pitchFamily="34" charset="-120"/>
              </a:rPr>
              <a:t>Predare</a:t>
            </a:r>
            <a:endParaRPr lang="en-US" sz="1600" dirty="0"/>
          </a:p>
        </p:txBody>
      </p:sp>
      <p:sp>
        <p:nvSpPr>
          <p:cNvPr id="7" name="Text 5"/>
          <p:cNvSpPr/>
          <p:nvPr/>
        </p:nvSpPr>
        <p:spPr>
          <a:xfrm>
            <a:off x="7325320" y="2529681"/>
            <a:ext cx="39138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3EE"/>
                </a:solidFill>
                <a:latin typeface="IBM Plex Sans" pitchFamily="34" charset="0"/>
                <a:ea typeface="IBM Plex Sans" pitchFamily="34" charset="-122"/>
                <a:cs typeface="IBM Plex Sans" pitchFamily="34" charset="-120"/>
              </a:rPr>
              <a:t>Termen: [data]</a:t>
            </a:r>
            <a:endParaRPr lang="en-US" sz="1400" dirty="0"/>
          </a:p>
        </p:txBody>
      </p:sp>
      <p:sp>
        <p:nvSpPr>
          <p:cNvPr id="8" name="Text 6"/>
          <p:cNvSpPr/>
          <p:nvPr/>
        </p:nvSpPr>
        <p:spPr>
          <a:xfrm>
            <a:off x="7325320" y="2930922"/>
            <a:ext cx="39138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3EE"/>
                </a:solidFill>
                <a:latin typeface="IBM Plex Sans" pitchFamily="34" charset="0"/>
                <a:ea typeface="IBM Plex Sans" pitchFamily="34" charset="-122"/>
                <a:cs typeface="IBM Plex Sans" pitchFamily="34" charset="-120"/>
              </a:rPr>
              <a:t>Trimiteți linkul pe [platforma cursului].</a:t>
            </a:r>
            <a:endParaRPr lang="en-US" sz="1400" dirty="0"/>
          </a:p>
        </p:txBody>
      </p:sp>
      <p:sp>
        <p:nvSpPr>
          <p:cNvPr id="9" name="Text 7"/>
          <p:cNvSpPr/>
          <p:nvPr/>
        </p:nvSpPr>
        <p:spPr>
          <a:xfrm>
            <a:off x="7325320" y="3332163"/>
            <a:ext cx="391387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6D1"/>
                </a:solidFill>
                <a:latin typeface="IBM Plex Sans" pitchFamily="34" charset="0"/>
                <a:ea typeface="IBM Plex Sans" pitchFamily="34" charset="-122"/>
                <a:cs typeface="IBM Plex Sans" pitchFamily="34" charset="-120"/>
              </a:rPr>
              <a:t>Subiectul proiectului e la alegere: o aplicație mică, notițele de curs sau un CV.</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73"/>
                </a:solidFill>
                <a:latin typeface="IBM Plex Sans" pitchFamily="34" charset="0"/>
                <a:ea typeface="IBM Plex Sans" pitchFamily="34" charset="-122"/>
                <a:cs typeface="IBM Plex Sans" pitchFamily="34" charset="-120"/>
              </a:rPr>
              <a:t>GitHub pentru redactare și comunicare · </a:t>
            </a:r>
            <a:r>
              <a:rPr lang="ro-RO" sz="1200" dirty="0">
                <a:solidFill>
                  <a:srgbClr val="5E6573"/>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17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0884F"/>
                </a:solidFill>
                <a:latin typeface="JetBrains Mono" pitchFamily="49" charset="0"/>
                <a:ea typeface="JetBrains Mono" pitchFamily="49" charset="-122"/>
                <a:cs typeface="JetBrains Mono" pitchFamily="49" charset="-120"/>
              </a:rPr>
              <a:t>$ git push</a:t>
            </a:r>
            <a:endParaRPr lang="en-US" sz="1600" dirty="0"/>
          </a:p>
        </p:txBody>
      </p:sp>
      <p:sp>
        <p:nvSpPr>
          <p:cNvPr id="3" name="Text 1"/>
          <p:cNvSpPr>
            <a:spLocks noGrp="1"/>
          </p:cNvSpPr>
          <p:nvPr>
            <p:ph type="title"/>
          </p:nvPr>
        </p:nvSpPr>
        <p:spPr>
          <a:xfrm>
            <a:off x="812800" y="4246959"/>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Întrebări?</a:t>
            </a:r>
            <a:endParaRPr lang="en-US" sz="5600" dirty="0"/>
          </a:p>
        </p:txBody>
      </p:sp>
      <p:sp>
        <p:nvSpPr>
          <p:cNvPr id="4" name="Text 2"/>
          <p:cNvSpPr/>
          <p:nvPr/>
        </p:nvSpPr>
        <p:spPr>
          <a:xfrm>
            <a:off x="812800" y="5247680"/>
            <a:ext cx="915670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6D1"/>
                </a:solidFill>
                <a:latin typeface="IBM Plex Sans" pitchFamily="34" charset="0"/>
                <a:ea typeface="IBM Plex Sans" pitchFamily="34" charset="-122"/>
                <a:cs typeface="IBM Plex Sans" pitchFamily="34" charset="-120"/>
              </a:rPr>
              <a:t>Orice scrieți pe GitHub va fi citit de un om. Scrieți pentru el.</a:t>
            </a:r>
            <a:endParaRPr lang="en-US" sz="20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theme/theme1.xml><?xml version="1.0" encoding="utf-8"?>
<a:theme xmlns:a="http://schemas.openxmlformats.org/drawingml/2006/main" name="GitHub pentru redactare și comunicare">
  <a:themeElements>
    <a:clrScheme name="GitHub pentru redactare și comunicare">
      <a:dk1>
        <a:srgbClr val="17202B"/>
      </a:dk1>
      <a:lt1>
        <a:srgbClr val="F5F3EE"/>
      </a:lt1>
      <a:dk2>
        <a:srgbClr val="4F555C"/>
      </a:dk2>
      <a:lt2>
        <a:srgbClr val="DFDEDB"/>
      </a:lt2>
      <a:accent1>
        <a:srgbClr val="B4501E"/>
      </a:accent1>
      <a:accent2>
        <a:srgbClr val="F0884F"/>
      </a:accent2>
      <a:accent3>
        <a:srgbClr val="F2A3A3"/>
      </a:accent3>
      <a:accent4>
        <a:srgbClr val="A8DDB5"/>
      </a:accent4>
      <a:accent5>
        <a:srgbClr val="E0692F"/>
      </a:accent5>
      <a:accent6>
        <a:srgbClr val="5E6573"/>
      </a:accent6>
      <a:hlink>
        <a:srgbClr val="0563C1"/>
      </a:hlink>
      <a:folHlink>
        <a:srgbClr val="954F72"/>
      </a:folHlink>
    </a:clrScheme>
    <a:fontScheme name="GitHub pentru redactare și comunica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8106</Words>
  <Application>Microsoft Macintosh PowerPoint</Application>
  <PresentationFormat>Widescreen</PresentationFormat>
  <Paragraphs>562</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IBM Plex Sans</vt:lpstr>
      <vt:lpstr>JetBrains Mono</vt:lpstr>
      <vt:lpstr>GitHub pentru redactare și comunicare</vt:lpstr>
      <vt:lpstr>GitHub pentru redactare și comunicare</vt:lpstr>
      <vt:lpstr>Ce facem astăzi?</vt:lpstr>
      <vt:lpstr>Într-un proiect software, aproape totul se comunică în scris</vt:lpstr>
      <vt:lpstr>Git și GitHub nu sunt același lucru</vt:lpstr>
      <vt:lpstr>Șase cuvinte pe care le vom folosi azi</vt:lpstr>
      <vt:lpstr>La fiecare pas al fluxului de lucru, scrii ceva pentru alții</vt:lpstr>
      <vt:lpstr>Markdown</vt:lpstr>
      <vt:lpstr>Text simplu care devine text formatat</vt:lpstr>
      <vt:lpstr>Opt semne acoperă aproape tot ce scrii</vt:lpstr>
      <vt:lpstr>Blocuri de cod și tabele</vt:lpstr>
      <vt:lpstr>Linkuri, imagini, sarcini și mențiuni</vt:lpstr>
      <vt:lpstr>Greșeli frecvente și cum le eviți</vt:lpstr>
      <vt:lpstr>README</vt:lpstr>
      <vt:lpstr>Un README bun răspunde la șase întrebări, în ordine</vt:lpstr>
      <vt:lpstr>Un README slab lasă cititorul cu întrebări</vt:lpstr>
      <vt:lpstr>Același proiect, cu un README bun</vt:lpstr>
      <vt:lpstr>Patru reguli pentru orice README</vt:lpstr>
      <vt:lpstr>Mesajele de commit</vt:lpstr>
      <vt:lpstr>Un titlu scurt, un rând gol, apoi motivul</vt:lpstr>
      <vt:lpstr>De la „fix” la un mesaj care spune ceva</vt:lpstr>
      <vt:lpstr>Conventional Commits: o etichetă în fața titlului</vt:lpstr>
      <vt:lpstr>Issues</vt:lpstr>
      <vt:lpstr>Un raport de eroare bun are cinci părți</vt:lpstr>
      <vt:lpstr>Același issue, scris ca să poată fi rezolvat</vt:lpstr>
      <vt:lpstr>Cum ține o echipă ordinea în zeci de issues</vt:lpstr>
      <vt:lpstr>Pull requests și code review</vt:lpstr>
      <vt:lpstr>Descrierea unui PR: ce, de ce, cum verifici</vt:lpstr>
      <vt:lpstr>Un comentariu util spune unde, ce și de ce</vt:lpstr>
      <vt:lpstr>În scris nu se aude tonul, așa că îl alegi cu grijă</vt:lpstr>
      <vt:lpstr>Documentație și scriere colaborativă</vt:lpstr>
      <vt:lpstr>Regulile unui proiect stau în câteva fișiere</vt:lpstr>
      <vt:lpstr>Trei locuri pentru texte mai lungi decât un README</vt:lpstr>
      <vt:lpstr>Lucrarea de licență poate avea și ea un istoric</vt:lpstr>
      <vt:lpstr>Șase reguli de luat acasă</vt:lpstr>
      <vt:lpstr>Un repository al vostru, scris după regulile de azi</vt:lpstr>
      <vt:lpstr>Întrebări?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pentru redactare și comunicare</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Asist.Univ.Drd. Sorin Caloian</cp:lastModifiedBy>
  <cp:revision>4</cp:revision>
  <dcterms:created xsi:type="dcterms:W3CDTF">2026-10-22T17:18:17Z</dcterms:created>
  <dcterms:modified xsi:type="dcterms:W3CDTF">2026-10-22T18:31:09Z</dcterms:modified>
</cp:coreProperties>
</file>